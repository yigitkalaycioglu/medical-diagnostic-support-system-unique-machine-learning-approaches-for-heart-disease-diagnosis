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622" autoAdjust="0"/>
  </p:normalViewPr>
  <p:slideViewPr>
    <p:cSldViewPr snapToGrid="0">
      <p:cViewPr varScale="1">
        <p:scale>
          <a:sx n="121" d="100"/>
          <a:sy n="121" d="100"/>
        </p:scale>
        <p:origin x="48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6FD01961-3A40-481F-A8FE-C1BB42D98E78}" type="datetimeFigureOut">
              <a:rPr lang="tr-TR" smtClean="0"/>
              <a:t>4.12.2025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132893B-08E2-4B54-BF80-5250F341FA91}"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463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FD01961-3A40-481F-A8FE-C1BB42D98E78}" type="datetimeFigureOut">
              <a:rPr lang="tr-TR" smtClean="0"/>
              <a:t>4.12.2025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132893B-08E2-4B54-BF80-5250F341FA91}" type="slidenum">
              <a:rPr lang="tr-TR" smtClean="0"/>
              <a:t>‹#›</a:t>
            </a:fld>
            <a:endParaRPr lang="tr-TR"/>
          </a:p>
        </p:txBody>
      </p:sp>
    </p:spTree>
    <p:extLst>
      <p:ext uri="{BB962C8B-B14F-4D97-AF65-F5344CB8AC3E}">
        <p14:creationId xmlns:p14="http://schemas.microsoft.com/office/powerpoint/2010/main" val="3509021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FD01961-3A40-481F-A8FE-C1BB42D98E78}" type="datetimeFigureOut">
              <a:rPr lang="tr-TR" smtClean="0"/>
              <a:t>4.12.2025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132893B-08E2-4B54-BF80-5250F341FA91}"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033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FD01961-3A40-481F-A8FE-C1BB42D98E78}" type="datetimeFigureOut">
              <a:rPr lang="tr-TR" smtClean="0"/>
              <a:t>4.12.2025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6132893B-08E2-4B54-BF80-5250F341FA91}" type="slidenum">
              <a:rPr lang="tr-TR" smtClean="0"/>
              <a:t>‹#›</a:t>
            </a:fld>
            <a:endParaRPr lang="tr-TR"/>
          </a:p>
        </p:txBody>
      </p:sp>
    </p:spTree>
    <p:extLst>
      <p:ext uri="{BB962C8B-B14F-4D97-AF65-F5344CB8AC3E}">
        <p14:creationId xmlns:p14="http://schemas.microsoft.com/office/powerpoint/2010/main" val="2593590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9728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1792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6FD01961-3A40-481F-A8FE-C1BB42D98E78}" type="datetimeFigureOut">
              <a:rPr lang="tr-TR" smtClean="0"/>
              <a:t>4.12.2025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6132893B-08E2-4B54-BF80-5250F341FA91}" type="slidenum">
              <a:rPr lang="tr-TR" smtClean="0"/>
              <a:t>‹#›</a:t>
            </a:fld>
            <a:endParaRPr lang="tr-TR"/>
          </a:p>
        </p:txBody>
      </p:sp>
    </p:spTree>
    <p:extLst>
      <p:ext uri="{BB962C8B-B14F-4D97-AF65-F5344CB8AC3E}">
        <p14:creationId xmlns:p14="http://schemas.microsoft.com/office/powerpoint/2010/main" val="3204749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6FD01961-3A40-481F-A8FE-C1BB42D98E78}" type="datetimeFigureOut">
              <a:rPr lang="tr-TR" smtClean="0"/>
              <a:t>4.12.2025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6132893B-08E2-4B54-BF80-5250F341FA91}" type="slidenum">
              <a:rPr lang="tr-TR" smtClean="0"/>
              <a:t>‹#›</a:t>
            </a:fld>
            <a:endParaRPr lang="tr-TR"/>
          </a:p>
        </p:txBody>
      </p:sp>
    </p:spTree>
    <p:extLst>
      <p:ext uri="{BB962C8B-B14F-4D97-AF65-F5344CB8AC3E}">
        <p14:creationId xmlns:p14="http://schemas.microsoft.com/office/powerpoint/2010/main" val="3785557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D01961-3A40-481F-A8FE-C1BB42D98E78}" type="datetimeFigureOut">
              <a:rPr lang="tr-TR" smtClean="0"/>
              <a:t>4.12.2025</a:t>
            </a:fld>
            <a:endParaRPr lang="tr-T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tr-TR"/>
          </a:p>
        </p:txBody>
      </p:sp>
      <p:sp>
        <p:nvSpPr>
          <p:cNvPr id="9" name="Slide Number Placeholder 8"/>
          <p:cNvSpPr>
            <a:spLocks noGrp="1"/>
          </p:cNvSpPr>
          <p:nvPr>
            <p:ph type="sldNum" sz="quarter" idx="12"/>
          </p:nvPr>
        </p:nvSpPr>
        <p:spPr/>
        <p:txBody>
          <a:bodyPr/>
          <a:lstStyle/>
          <a:p>
            <a:fld id="{6132893B-08E2-4B54-BF80-5250F341FA91}" type="slidenum">
              <a:rPr lang="tr-TR" smtClean="0"/>
              <a:t>‹#›</a:t>
            </a:fld>
            <a:endParaRPr lang="tr-TR"/>
          </a:p>
        </p:txBody>
      </p:sp>
    </p:spTree>
    <p:extLst>
      <p:ext uri="{BB962C8B-B14F-4D97-AF65-F5344CB8AC3E}">
        <p14:creationId xmlns:p14="http://schemas.microsoft.com/office/powerpoint/2010/main" val="1044074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D01961-3A40-481F-A8FE-C1BB42D98E78}" type="datetimeFigureOut">
              <a:rPr lang="tr-TR" smtClean="0"/>
              <a:t>4.12.2025</a:t>
            </a:fld>
            <a:endParaRPr lang="tr-T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tr-T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132893B-08E2-4B54-BF80-5250F341FA91}" type="slidenum">
              <a:rPr lang="tr-TR" smtClean="0"/>
              <a:t>‹#›</a:t>
            </a:fld>
            <a:endParaRPr lang="tr-TR"/>
          </a:p>
        </p:txBody>
      </p:sp>
    </p:spTree>
    <p:extLst>
      <p:ext uri="{BB962C8B-B14F-4D97-AF65-F5344CB8AC3E}">
        <p14:creationId xmlns:p14="http://schemas.microsoft.com/office/powerpoint/2010/main" val="220081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FD01961-3A40-481F-A8FE-C1BB42D98E78}" type="datetimeFigureOut">
              <a:rPr lang="tr-TR" smtClean="0"/>
              <a:t>4.12.2025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6132893B-08E2-4B54-BF80-5250F341FA91}" type="slidenum">
              <a:rPr lang="tr-TR" smtClean="0"/>
              <a:t>‹#›</a:t>
            </a:fld>
            <a:endParaRPr lang="tr-TR"/>
          </a:p>
        </p:txBody>
      </p:sp>
    </p:spTree>
    <p:extLst>
      <p:ext uri="{BB962C8B-B14F-4D97-AF65-F5344CB8AC3E}">
        <p14:creationId xmlns:p14="http://schemas.microsoft.com/office/powerpoint/2010/main" val="552390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FD01961-3A40-481F-A8FE-C1BB42D98E78}" type="datetimeFigureOut">
              <a:rPr lang="tr-TR" smtClean="0"/>
              <a:t>4.12.2025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132893B-08E2-4B54-BF80-5250F341FA91}" type="slidenum">
              <a:rPr lang="tr-TR" smtClean="0"/>
              <a:t>‹#›</a:t>
            </a:fld>
            <a:endParaRPr lang="tr-TR"/>
          </a:p>
        </p:txBody>
      </p:sp>
    </p:spTree>
    <p:extLst>
      <p:ext uri="{BB962C8B-B14F-4D97-AF65-F5344CB8AC3E}">
        <p14:creationId xmlns:p14="http://schemas.microsoft.com/office/powerpoint/2010/main" val="4136279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FD01961-3A40-481F-A8FE-C1BB42D98E78}" type="datetimeFigureOut">
              <a:rPr lang="tr-TR" smtClean="0"/>
              <a:t>4.12.2025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132893B-08E2-4B54-BF80-5250F341FA91}" type="slidenum">
              <a:rPr lang="tr-TR" smtClean="0"/>
              <a:t>‹#›</a:t>
            </a:fld>
            <a:endParaRPr lang="tr-TR"/>
          </a:p>
        </p:txBody>
      </p:sp>
    </p:spTree>
    <p:extLst>
      <p:ext uri="{BB962C8B-B14F-4D97-AF65-F5344CB8AC3E}">
        <p14:creationId xmlns:p14="http://schemas.microsoft.com/office/powerpoint/2010/main" val="1756895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D01961-3A40-481F-A8FE-C1BB42D98E78}" type="datetimeFigureOut">
              <a:rPr lang="tr-TR" smtClean="0"/>
              <a:t>4.12.2025</a:t>
            </a:fld>
            <a:endParaRPr lang="tr-T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tr-T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132893B-08E2-4B54-BF80-5250F341FA91}" type="slidenum">
              <a:rPr lang="tr-TR" smtClean="0"/>
              <a:t>‹#›</a:t>
            </a:fld>
            <a:endParaRPr lang="tr-T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7720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7EEA974-047D-9AD9-0D71-43FEC0AE00F8}"/>
              </a:ext>
            </a:extLst>
          </p:cNvPr>
          <p:cNvSpPr>
            <a:spLocks noGrp="1"/>
          </p:cNvSpPr>
          <p:nvPr>
            <p:ph type="ctrTitle"/>
          </p:nvPr>
        </p:nvSpPr>
        <p:spPr/>
        <p:txBody>
          <a:bodyPr/>
          <a:lstStyle/>
          <a:p>
            <a:r>
              <a:rPr lang="tr-TR" dirty="0"/>
              <a:t>Kalp Hastalığı Teşhisinde Özgün Yapay Zeka Yaklaşımları</a:t>
            </a:r>
          </a:p>
        </p:txBody>
      </p:sp>
      <p:sp>
        <p:nvSpPr>
          <p:cNvPr id="3" name="Alt Başlık 2">
            <a:extLst>
              <a:ext uri="{FF2B5EF4-FFF2-40B4-BE49-F238E27FC236}">
                <a16:creationId xmlns:a16="http://schemas.microsoft.com/office/drawing/2014/main" id="{FF6B6395-7215-C544-2D6E-FB40405CBA10}"/>
              </a:ext>
            </a:extLst>
          </p:cNvPr>
          <p:cNvSpPr>
            <a:spLocks noGrp="1"/>
          </p:cNvSpPr>
          <p:nvPr>
            <p:ph type="subTitle" idx="1"/>
          </p:nvPr>
        </p:nvSpPr>
        <p:spPr/>
        <p:txBody>
          <a:bodyPr/>
          <a:lstStyle/>
          <a:p>
            <a:r>
              <a:rPr lang="tr-TR" dirty="0"/>
              <a:t>Yiğit Kalaycıoğlu</a:t>
            </a:r>
          </a:p>
        </p:txBody>
      </p:sp>
    </p:spTree>
    <p:extLst>
      <p:ext uri="{BB962C8B-B14F-4D97-AF65-F5344CB8AC3E}">
        <p14:creationId xmlns:p14="http://schemas.microsoft.com/office/powerpoint/2010/main" val="70852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B1F6EA-61FA-7CB0-39E5-9F519C61F8E6}"/>
              </a:ext>
            </a:extLst>
          </p:cNvPr>
          <p:cNvSpPr>
            <a:spLocks noGrp="1"/>
          </p:cNvSpPr>
          <p:nvPr>
            <p:ph type="title"/>
          </p:nvPr>
        </p:nvSpPr>
        <p:spPr/>
        <p:txBody>
          <a:bodyPr/>
          <a:lstStyle/>
          <a:p>
            <a:r>
              <a:rPr lang="tr-TR" dirty="0"/>
              <a:t>Projenin Amacı</a:t>
            </a:r>
          </a:p>
        </p:txBody>
      </p:sp>
      <p:sp>
        <p:nvSpPr>
          <p:cNvPr id="4" name="Rectangle 1">
            <a:extLst>
              <a:ext uri="{FF2B5EF4-FFF2-40B4-BE49-F238E27FC236}">
                <a16:creationId xmlns:a16="http://schemas.microsoft.com/office/drawing/2014/main" id="{A27CE370-3BAC-472A-51D8-EF8D744BDC87}"/>
              </a:ext>
            </a:extLst>
          </p:cNvPr>
          <p:cNvSpPr>
            <a:spLocks noGrp="1" noChangeArrowheads="1"/>
          </p:cNvSpPr>
          <p:nvPr>
            <p:ph idx="1"/>
          </p:nvPr>
        </p:nvSpPr>
        <p:spPr bwMode="auto">
          <a:xfrm>
            <a:off x="1069647" y="2114329"/>
            <a:ext cx="1011366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Kalp hastalıklarının erken ve doğru teşhisi.</a:t>
            </a:r>
          </a:p>
          <a:p>
            <a:pPr marL="0" marR="0" lvl="0" indent="0" algn="l" defTabSz="914400" rtl="0" eaLnBrk="0" fontAlgn="base" latinLnBrk="0" hangingPunct="0">
              <a:lnSpc>
                <a:spcPct val="100000"/>
              </a:lnSpc>
              <a:spcBef>
                <a:spcPct val="0"/>
              </a:spcBef>
              <a:spcAft>
                <a:spcPct val="0"/>
              </a:spcAft>
              <a:buClrTx/>
              <a:buSz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Standart makine öğrenmesi algoritmalarını tıbbi veriye uygun </a:t>
            </a:r>
            <a:r>
              <a:rPr kumimoji="0" lang="tr-TR" altLang="tr-TR" sz="1800" b="1" i="0" u="none" strike="noStrike" cap="none" normalizeH="0" baseline="0" dirty="0">
                <a:ln>
                  <a:noFill/>
                </a:ln>
                <a:solidFill>
                  <a:schemeClr val="tx1"/>
                </a:solidFill>
                <a:effectLst/>
                <a:latin typeface="Arial" panose="020B0604020202020204" pitchFamily="34" charset="0"/>
              </a:rPr>
              <a:t>özgün matematiksel yöntemlerle</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800" b="0" i="0" u="none" strike="noStrike" cap="none" normalizeH="0" baseline="0" dirty="0">
                <a:ln>
                  <a:noFill/>
                </a:ln>
                <a:solidFill>
                  <a:schemeClr val="tx1"/>
                </a:solidFill>
                <a:effectLst/>
                <a:latin typeface="Arial" panose="020B0604020202020204" pitchFamily="34" charset="0"/>
              </a:rPr>
              <a:t>geliştirerek performanslarını artırmak.</a:t>
            </a:r>
          </a:p>
        </p:txBody>
      </p:sp>
    </p:spTree>
    <p:extLst>
      <p:ext uri="{BB962C8B-B14F-4D97-AF65-F5344CB8AC3E}">
        <p14:creationId xmlns:p14="http://schemas.microsoft.com/office/powerpoint/2010/main" val="3842685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a:extLst>
              <a:ext uri="{FF2B5EF4-FFF2-40B4-BE49-F238E27FC236}">
                <a16:creationId xmlns:a16="http://schemas.microsoft.com/office/drawing/2014/main" id="{234DE664-0825-E68A-0262-C10D5A28AE37}"/>
              </a:ext>
            </a:extLst>
          </p:cNvPr>
          <p:cNvSpPr>
            <a:spLocks noGrp="1"/>
          </p:cNvSpPr>
          <p:nvPr>
            <p:ph type="title"/>
          </p:nvPr>
        </p:nvSpPr>
        <p:spPr>
          <a:xfrm>
            <a:off x="492370" y="516835"/>
            <a:ext cx="3084844" cy="2103875"/>
          </a:xfrm>
        </p:spPr>
        <p:txBody>
          <a:bodyPr>
            <a:normAutofit/>
          </a:bodyPr>
          <a:lstStyle/>
          <a:p>
            <a:r>
              <a:rPr lang="tr-TR" sz="3600">
                <a:solidFill>
                  <a:srgbClr val="FFFFFF"/>
                </a:solidFill>
              </a:rPr>
              <a:t>Veri Seti ve Hazırlık</a:t>
            </a:r>
          </a:p>
        </p:txBody>
      </p:sp>
      <p:sp>
        <p:nvSpPr>
          <p:cNvPr id="3" name="İçerik Yer Tutucusu 2">
            <a:extLst>
              <a:ext uri="{FF2B5EF4-FFF2-40B4-BE49-F238E27FC236}">
                <a16:creationId xmlns:a16="http://schemas.microsoft.com/office/drawing/2014/main" id="{AB6F48EB-3E75-1435-9CE2-6316EFC2A11B}"/>
              </a:ext>
            </a:extLst>
          </p:cNvPr>
          <p:cNvSpPr>
            <a:spLocks noGrp="1"/>
          </p:cNvSpPr>
          <p:nvPr>
            <p:ph idx="1"/>
          </p:nvPr>
        </p:nvSpPr>
        <p:spPr>
          <a:xfrm>
            <a:off x="492371" y="2653800"/>
            <a:ext cx="3084844" cy="3335519"/>
          </a:xfrm>
        </p:spPr>
        <p:txBody>
          <a:bodyPr>
            <a:normAutofit/>
          </a:bodyPr>
          <a:lstStyle/>
          <a:p>
            <a:r>
              <a:rPr lang="tr-TR" sz="1500" b="1">
                <a:solidFill>
                  <a:srgbClr val="FFFFFF"/>
                </a:solidFill>
              </a:rPr>
              <a:t>Ön İşleme:</a:t>
            </a:r>
            <a:endParaRPr lang="tr-TR" sz="1500">
              <a:solidFill>
                <a:srgbClr val="FFFFFF"/>
              </a:solidFill>
            </a:endParaRPr>
          </a:p>
          <a:p>
            <a:r>
              <a:rPr lang="tr-TR" sz="1500">
                <a:solidFill>
                  <a:srgbClr val="FFFFFF"/>
                </a:solidFill>
              </a:rPr>
              <a:t>Eksik veri tamamlama (Medyan/Mod).</a:t>
            </a:r>
          </a:p>
          <a:p>
            <a:r>
              <a:rPr lang="tr-TR" sz="1500">
                <a:solidFill>
                  <a:srgbClr val="FFFFFF"/>
                </a:solidFill>
              </a:rPr>
              <a:t>Aykırı değer baskılama (Winsorization/IQR).</a:t>
            </a:r>
          </a:p>
          <a:p>
            <a:r>
              <a:rPr lang="tr-TR" sz="1500">
                <a:solidFill>
                  <a:srgbClr val="FFFFFF"/>
                </a:solidFill>
              </a:rPr>
              <a:t>Normalizasyon (StandardScaler).</a:t>
            </a:r>
          </a:p>
          <a:p>
            <a:r>
              <a:rPr lang="tr-TR" sz="1500">
                <a:solidFill>
                  <a:srgbClr val="FFFFFF"/>
                </a:solidFill>
              </a:rPr>
              <a:t>One-Hot Encoding.</a:t>
            </a:r>
          </a:p>
          <a:p>
            <a:endParaRPr lang="tr-TR" sz="1500">
              <a:solidFill>
                <a:srgbClr val="FFFFFF"/>
              </a:solidFill>
            </a:endParaRPr>
          </a:p>
        </p:txBody>
      </p:sp>
      <p:sp>
        <p:nvSpPr>
          <p:cNvPr id="20" name="Rectangle 13">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pic>
        <p:nvPicPr>
          <p:cNvPr id="5" name="Resim 4">
            <a:extLst>
              <a:ext uri="{FF2B5EF4-FFF2-40B4-BE49-F238E27FC236}">
                <a16:creationId xmlns:a16="http://schemas.microsoft.com/office/drawing/2014/main" id="{6B5A5008-6A2C-7C84-1B5F-32144B8BC011}"/>
              </a:ext>
            </a:extLst>
          </p:cNvPr>
          <p:cNvPicPr>
            <a:picLocks noChangeAspect="1"/>
          </p:cNvPicPr>
          <p:nvPr/>
        </p:nvPicPr>
        <p:blipFill>
          <a:blip r:embed="rId2"/>
          <a:stretch>
            <a:fillRect/>
          </a:stretch>
        </p:blipFill>
        <p:spPr>
          <a:xfrm>
            <a:off x="4742017" y="2426283"/>
            <a:ext cx="6798082" cy="2005434"/>
          </a:xfrm>
          <a:prstGeom prst="rect">
            <a:avLst/>
          </a:prstGeom>
        </p:spPr>
      </p:pic>
    </p:spTree>
    <p:extLst>
      <p:ext uri="{BB962C8B-B14F-4D97-AF65-F5344CB8AC3E}">
        <p14:creationId xmlns:p14="http://schemas.microsoft.com/office/powerpoint/2010/main" val="2750289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162C74F5-A83A-3CFE-C24F-A33C876394B7}"/>
              </a:ext>
            </a:extLst>
          </p:cNvPr>
          <p:cNvPicPr>
            <a:picLocks noChangeAspect="1"/>
          </p:cNvPicPr>
          <p:nvPr/>
        </p:nvPicPr>
        <p:blipFill>
          <a:blip r:embed="rId2"/>
          <a:stretch>
            <a:fillRect/>
          </a:stretch>
        </p:blipFill>
        <p:spPr>
          <a:xfrm>
            <a:off x="1680678" y="81100"/>
            <a:ext cx="8717775" cy="6299901"/>
          </a:xfrm>
          <a:prstGeom prst="rect">
            <a:avLst/>
          </a:prstGeom>
        </p:spPr>
      </p:pic>
    </p:spTree>
    <p:extLst>
      <p:ext uri="{BB962C8B-B14F-4D97-AF65-F5344CB8AC3E}">
        <p14:creationId xmlns:p14="http://schemas.microsoft.com/office/powerpoint/2010/main" val="3449372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44461CB7-4E81-CB8E-64F6-8A5ABC7E88C5}"/>
              </a:ext>
            </a:extLst>
          </p:cNvPr>
          <p:cNvPicPr>
            <a:picLocks noChangeAspect="1"/>
          </p:cNvPicPr>
          <p:nvPr/>
        </p:nvPicPr>
        <p:blipFill>
          <a:blip r:embed="rId2"/>
          <a:stretch>
            <a:fillRect/>
          </a:stretch>
        </p:blipFill>
        <p:spPr>
          <a:xfrm>
            <a:off x="324459" y="270785"/>
            <a:ext cx="11543082" cy="5749360"/>
          </a:xfrm>
          <a:prstGeom prst="rect">
            <a:avLst/>
          </a:prstGeom>
        </p:spPr>
      </p:pic>
    </p:spTree>
    <p:extLst>
      <p:ext uri="{BB962C8B-B14F-4D97-AF65-F5344CB8AC3E}">
        <p14:creationId xmlns:p14="http://schemas.microsoft.com/office/powerpoint/2010/main" val="606587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1D68A787-AAC2-7D3A-8B52-5FC17DF4A67A}"/>
              </a:ext>
            </a:extLst>
          </p:cNvPr>
          <p:cNvPicPr>
            <a:picLocks noChangeAspect="1"/>
          </p:cNvPicPr>
          <p:nvPr/>
        </p:nvPicPr>
        <p:blipFill>
          <a:blip r:embed="rId2"/>
          <a:stretch>
            <a:fillRect/>
          </a:stretch>
        </p:blipFill>
        <p:spPr>
          <a:xfrm>
            <a:off x="985837" y="573826"/>
            <a:ext cx="10220325" cy="5114925"/>
          </a:xfrm>
          <a:prstGeom prst="rect">
            <a:avLst/>
          </a:prstGeom>
        </p:spPr>
      </p:pic>
    </p:spTree>
    <p:extLst>
      <p:ext uri="{BB962C8B-B14F-4D97-AF65-F5344CB8AC3E}">
        <p14:creationId xmlns:p14="http://schemas.microsoft.com/office/powerpoint/2010/main" val="2548499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C3E5FFDB-FA12-CEFC-AEA8-140522186BAB}"/>
              </a:ext>
            </a:extLst>
          </p:cNvPr>
          <p:cNvPicPr>
            <a:picLocks noChangeAspect="1"/>
          </p:cNvPicPr>
          <p:nvPr/>
        </p:nvPicPr>
        <p:blipFill>
          <a:blip r:embed="rId2"/>
          <a:stretch>
            <a:fillRect/>
          </a:stretch>
        </p:blipFill>
        <p:spPr>
          <a:xfrm>
            <a:off x="2181097" y="643467"/>
            <a:ext cx="7829806" cy="5050225"/>
          </a:xfrm>
          <a:prstGeom prst="rect">
            <a:avLst/>
          </a:prstGeom>
        </p:spPr>
      </p:pic>
    </p:spTree>
    <p:extLst>
      <p:ext uri="{BB962C8B-B14F-4D97-AF65-F5344CB8AC3E}">
        <p14:creationId xmlns:p14="http://schemas.microsoft.com/office/powerpoint/2010/main" val="3172434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Başlık 3">
            <a:extLst>
              <a:ext uri="{FF2B5EF4-FFF2-40B4-BE49-F238E27FC236}">
                <a16:creationId xmlns:a16="http://schemas.microsoft.com/office/drawing/2014/main" id="{DE7EA066-92AA-F10D-729C-71A738AF7133}"/>
              </a:ext>
            </a:extLst>
          </p:cNvPr>
          <p:cNvSpPr>
            <a:spLocks noGrp="1"/>
          </p:cNvSpPr>
          <p:nvPr>
            <p:ph type="title"/>
          </p:nvPr>
        </p:nvSpPr>
        <p:spPr>
          <a:xfrm>
            <a:off x="6411685" y="634946"/>
            <a:ext cx="5127171" cy="1450757"/>
          </a:xfrm>
        </p:spPr>
        <p:txBody>
          <a:bodyPr>
            <a:normAutofit/>
          </a:bodyPr>
          <a:lstStyle/>
          <a:p>
            <a:r>
              <a:rPr lang="tr-TR"/>
              <a:t>Geliştirilen Özgün Yöntemler</a:t>
            </a:r>
            <a:endParaRPr lang="tr-TR" dirty="0"/>
          </a:p>
        </p:txBody>
      </p:sp>
      <p:pic>
        <p:nvPicPr>
          <p:cNvPr id="7" name="Resim 6">
            <a:extLst>
              <a:ext uri="{FF2B5EF4-FFF2-40B4-BE49-F238E27FC236}">
                <a16:creationId xmlns:a16="http://schemas.microsoft.com/office/drawing/2014/main" id="{6C6F37DF-13BC-1C60-FC70-523194B8ECBD}"/>
              </a:ext>
            </a:extLst>
          </p:cNvPr>
          <p:cNvPicPr>
            <a:picLocks noChangeAspect="1"/>
          </p:cNvPicPr>
          <p:nvPr/>
        </p:nvPicPr>
        <p:blipFill>
          <a:blip r:embed="rId2"/>
          <a:stretch>
            <a:fillRect/>
          </a:stretch>
        </p:blipFill>
        <p:spPr>
          <a:xfrm>
            <a:off x="643192" y="706715"/>
            <a:ext cx="5451627" cy="5124529"/>
          </a:xfrm>
          <a:prstGeom prst="rect">
            <a:avLst/>
          </a:prstGeom>
        </p:spPr>
      </p:pic>
      <p:cxnSp>
        <p:nvCxnSpPr>
          <p:cNvPr id="14" name="Straight Connector 13">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İçerik Yer Tutucusu 4">
            <a:extLst>
              <a:ext uri="{FF2B5EF4-FFF2-40B4-BE49-F238E27FC236}">
                <a16:creationId xmlns:a16="http://schemas.microsoft.com/office/drawing/2014/main" id="{B0B25499-F4ED-55E6-16F5-8A66434B6D26}"/>
              </a:ext>
            </a:extLst>
          </p:cNvPr>
          <p:cNvSpPr>
            <a:spLocks noGrp="1"/>
          </p:cNvSpPr>
          <p:nvPr>
            <p:ph idx="1"/>
          </p:nvPr>
        </p:nvSpPr>
        <p:spPr>
          <a:xfrm>
            <a:off x="6411684" y="2198914"/>
            <a:ext cx="5127172" cy="3670180"/>
          </a:xfrm>
        </p:spPr>
        <p:txBody>
          <a:bodyPr>
            <a:normAutofit/>
          </a:bodyPr>
          <a:lstStyle/>
          <a:p>
            <a:r>
              <a:rPr lang="tr-TR" b="1"/>
              <a:t>1. KNN (Log-Karesel Metrik):</a:t>
            </a:r>
            <a:r>
              <a:rPr lang="tr-TR"/>
              <a:t> </a:t>
            </a:r>
          </a:p>
          <a:p>
            <a:r>
              <a:rPr lang="tr-TR"/>
              <a:t>Öklid yerine, aykırı değerlerin etkisini azaltan </a:t>
            </a:r>
          </a:p>
          <a:p>
            <a:r>
              <a:rPr lang="tr-TR"/>
              <a:t>logaritmik mesafe.</a:t>
            </a:r>
            <a:endParaRPr lang="tr-TR" dirty="0"/>
          </a:p>
        </p:txBody>
      </p:sp>
      <p:sp>
        <p:nvSpPr>
          <p:cNvPr id="16" name="Rectangle 15">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8" name="Rectangle 17">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971745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6" name="Rectangle 25">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cxnSp>
        <p:nvCxnSpPr>
          <p:cNvPr id="28" name="Straight Connector 27">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0" name="Rectangle 29">
            <a:extLst>
              <a:ext uri="{FF2B5EF4-FFF2-40B4-BE49-F238E27FC236}">
                <a16:creationId xmlns:a16="http://schemas.microsoft.com/office/drawing/2014/main" id="{5A1B47C8-47A0-4A88-8830-6DEA3B5DE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pic>
        <p:nvPicPr>
          <p:cNvPr id="10" name="Resim 9">
            <a:extLst>
              <a:ext uri="{FF2B5EF4-FFF2-40B4-BE49-F238E27FC236}">
                <a16:creationId xmlns:a16="http://schemas.microsoft.com/office/drawing/2014/main" id="{FA47DEEA-E34F-AC03-06BE-85C0CD464C07}"/>
              </a:ext>
            </a:extLst>
          </p:cNvPr>
          <p:cNvPicPr>
            <a:picLocks noChangeAspect="1"/>
          </p:cNvPicPr>
          <p:nvPr/>
        </p:nvPicPr>
        <p:blipFill>
          <a:blip r:embed="rId2"/>
          <a:stretch>
            <a:fillRect/>
          </a:stretch>
        </p:blipFill>
        <p:spPr>
          <a:xfrm>
            <a:off x="633999" y="887355"/>
            <a:ext cx="6275667" cy="5083290"/>
          </a:xfrm>
          <a:prstGeom prst="rect">
            <a:avLst/>
          </a:prstGeom>
        </p:spPr>
      </p:pic>
      <p:sp>
        <p:nvSpPr>
          <p:cNvPr id="32" name="Rectangle 31">
            <a:extLst>
              <a:ext uri="{FF2B5EF4-FFF2-40B4-BE49-F238E27FC236}">
                <a16:creationId xmlns:a16="http://schemas.microsoft.com/office/drawing/2014/main" id="{984BBFDD-E720-4805-A9C8-129FBBF6D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4" name="Başlık 3">
            <a:extLst>
              <a:ext uri="{FF2B5EF4-FFF2-40B4-BE49-F238E27FC236}">
                <a16:creationId xmlns:a16="http://schemas.microsoft.com/office/drawing/2014/main" id="{6A8F05FD-169E-9F2F-C77B-0B5431AB84F7}"/>
              </a:ext>
            </a:extLst>
          </p:cNvPr>
          <p:cNvSpPr>
            <a:spLocks noGrp="1"/>
          </p:cNvSpPr>
          <p:nvPr>
            <p:ph type="title" idx="4294967295"/>
          </p:nvPr>
        </p:nvSpPr>
        <p:spPr>
          <a:xfrm>
            <a:off x="8096885" y="640080"/>
            <a:ext cx="3659246" cy="2926080"/>
          </a:xfrm>
        </p:spPr>
        <p:txBody>
          <a:bodyPr vert="horz" lIns="91440" tIns="45720" rIns="91440" bIns="45720" rtlCol="0" anchor="b">
            <a:normAutofit/>
          </a:bodyPr>
          <a:lstStyle/>
          <a:p>
            <a:r>
              <a:rPr lang="en-US" sz="3100" b="1" dirty="0">
                <a:solidFill>
                  <a:srgbClr val="FFFFFF"/>
                </a:solidFill>
              </a:rPr>
              <a:t>2. SVM (Bessel-Laplacian </a:t>
            </a:r>
            <a:r>
              <a:rPr lang="en-US" sz="3100" b="1" dirty="0" err="1">
                <a:solidFill>
                  <a:srgbClr val="FFFFFF"/>
                </a:solidFill>
              </a:rPr>
              <a:t>Çekirdek</a:t>
            </a:r>
            <a:r>
              <a:rPr lang="en-US" sz="3100" b="1" dirty="0">
                <a:solidFill>
                  <a:srgbClr val="FFFFFF"/>
                </a:solidFill>
              </a:rPr>
              <a:t>):</a:t>
            </a:r>
            <a:br>
              <a:rPr lang="en-US" sz="3100" b="1" dirty="0">
                <a:solidFill>
                  <a:srgbClr val="FFFFFF"/>
                </a:solidFill>
              </a:rPr>
            </a:br>
            <a:br>
              <a:rPr lang="en-US" sz="3100" b="1" dirty="0">
                <a:solidFill>
                  <a:srgbClr val="FFFFFF"/>
                </a:solidFill>
              </a:rPr>
            </a:br>
            <a:r>
              <a:rPr lang="en-US" sz="3100" dirty="0">
                <a:solidFill>
                  <a:srgbClr val="FFFFFF"/>
                </a:solidFill>
              </a:rPr>
              <a:t>RBF </a:t>
            </a:r>
            <a:r>
              <a:rPr lang="en-US" sz="3100" dirty="0" err="1">
                <a:solidFill>
                  <a:srgbClr val="FFFFFF"/>
                </a:solidFill>
              </a:rPr>
              <a:t>yerine</a:t>
            </a:r>
            <a:r>
              <a:rPr lang="en-US" sz="3100" dirty="0">
                <a:solidFill>
                  <a:srgbClr val="FFFFFF"/>
                </a:solidFill>
              </a:rPr>
              <a:t>, hem </a:t>
            </a:r>
            <a:r>
              <a:rPr lang="en-US" sz="3100" dirty="0" err="1">
                <a:solidFill>
                  <a:srgbClr val="FFFFFF"/>
                </a:solidFill>
              </a:rPr>
              <a:t>yerel</a:t>
            </a:r>
            <a:r>
              <a:rPr lang="en-US" sz="3100" dirty="0">
                <a:solidFill>
                  <a:srgbClr val="FFFFFF"/>
                </a:solidFill>
              </a:rPr>
              <a:t> </a:t>
            </a:r>
            <a:r>
              <a:rPr lang="en-US" sz="3100" dirty="0" err="1">
                <a:solidFill>
                  <a:srgbClr val="FFFFFF"/>
                </a:solidFill>
              </a:rPr>
              <a:t>keskinlikleri</a:t>
            </a:r>
            <a:r>
              <a:rPr lang="en-US" sz="3100" dirty="0">
                <a:solidFill>
                  <a:srgbClr val="FFFFFF"/>
                </a:solidFill>
              </a:rPr>
              <a:t> hem de global </a:t>
            </a:r>
            <a:r>
              <a:rPr lang="en-US" sz="3100" dirty="0" err="1">
                <a:solidFill>
                  <a:srgbClr val="FFFFFF"/>
                </a:solidFill>
              </a:rPr>
              <a:t>yapıyı</a:t>
            </a:r>
            <a:r>
              <a:rPr lang="en-US" sz="3100" dirty="0">
                <a:solidFill>
                  <a:srgbClr val="FFFFFF"/>
                </a:solidFill>
              </a:rPr>
              <a:t> </a:t>
            </a:r>
            <a:r>
              <a:rPr lang="en-US" sz="3100" dirty="0" err="1">
                <a:solidFill>
                  <a:srgbClr val="FFFFFF"/>
                </a:solidFill>
              </a:rPr>
              <a:t>yakalayan</a:t>
            </a:r>
            <a:r>
              <a:rPr lang="en-US" sz="3100" dirty="0">
                <a:solidFill>
                  <a:srgbClr val="FFFFFF"/>
                </a:solidFill>
              </a:rPr>
              <a:t> </a:t>
            </a:r>
            <a:r>
              <a:rPr lang="en-US" sz="3100" dirty="0" err="1">
                <a:solidFill>
                  <a:srgbClr val="FFFFFF"/>
                </a:solidFill>
              </a:rPr>
              <a:t>hibrit</a:t>
            </a:r>
            <a:r>
              <a:rPr lang="en-US" sz="3100" dirty="0">
                <a:solidFill>
                  <a:srgbClr val="FFFFFF"/>
                </a:solidFill>
              </a:rPr>
              <a:t> </a:t>
            </a:r>
            <a:r>
              <a:rPr lang="en-US" sz="3100" dirty="0" err="1">
                <a:solidFill>
                  <a:srgbClr val="FFFFFF"/>
                </a:solidFill>
              </a:rPr>
              <a:t>çekirdek</a:t>
            </a:r>
            <a:r>
              <a:rPr lang="en-US" sz="3100" dirty="0">
                <a:solidFill>
                  <a:srgbClr val="FFFFFF"/>
                </a:solidFill>
              </a:rPr>
              <a:t>.</a:t>
            </a:r>
            <a:endParaRPr lang="en-US" sz="3100" b="1" dirty="0">
              <a:solidFill>
                <a:srgbClr val="FFFFFF"/>
              </a:solidFill>
            </a:endParaRPr>
          </a:p>
        </p:txBody>
      </p:sp>
      <p:sp>
        <p:nvSpPr>
          <p:cNvPr id="34" name="Rectangle 33">
            <a:extLst>
              <a:ext uri="{FF2B5EF4-FFF2-40B4-BE49-F238E27FC236}">
                <a16:creationId xmlns:a16="http://schemas.microsoft.com/office/drawing/2014/main" id="{5AC4BE46-4A77-42FE-9D15-065CDB2F8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Tree>
    <p:extLst>
      <p:ext uri="{BB962C8B-B14F-4D97-AF65-F5344CB8AC3E}">
        <p14:creationId xmlns:p14="http://schemas.microsoft.com/office/powerpoint/2010/main" val="3958380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2" name="Rectangle 11">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cxnSp>
        <p:nvCxnSpPr>
          <p:cNvPr id="14" name="Straight Connector 13">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4F7E42D-8B5A-4FC8-81CD-9E60171F7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2C32DEC6-A647-2B89-D2A4-0E0F095DC772}"/>
              </a:ext>
            </a:extLst>
          </p:cNvPr>
          <p:cNvSpPr txBox="1"/>
          <p:nvPr/>
        </p:nvSpPr>
        <p:spPr>
          <a:xfrm>
            <a:off x="358469" y="761205"/>
            <a:ext cx="3084844" cy="3335519"/>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3100" b="1" dirty="0">
                <a:solidFill>
                  <a:srgbClr val="FFFFFF"/>
                </a:solidFill>
              </a:rPr>
              <a:t>3. </a:t>
            </a:r>
            <a:r>
              <a:rPr lang="en-US" sz="3100" b="1" dirty="0" err="1">
                <a:solidFill>
                  <a:srgbClr val="FFFFFF"/>
                </a:solidFill>
              </a:rPr>
              <a:t>Lojistik</a:t>
            </a:r>
            <a:r>
              <a:rPr lang="en-US" sz="3100" b="1" dirty="0">
                <a:solidFill>
                  <a:srgbClr val="FFFFFF"/>
                </a:solidFill>
              </a:rPr>
              <a:t> </a:t>
            </a:r>
            <a:r>
              <a:rPr lang="en-US" sz="3100" b="1" dirty="0" err="1">
                <a:solidFill>
                  <a:srgbClr val="FFFFFF"/>
                </a:solidFill>
              </a:rPr>
              <a:t>Regresyon</a:t>
            </a:r>
            <a:r>
              <a:rPr lang="en-US" sz="3100" b="1" dirty="0">
                <a:solidFill>
                  <a:srgbClr val="FFFFFF"/>
                </a:solidFill>
              </a:rPr>
              <a:t> (ISRU):</a:t>
            </a:r>
            <a:endParaRPr lang="tr-TR" sz="3100" b="1" dirty="0">
              <a:solidFill>
                <a:srgbClr val="FFFFFF"/>
              </a:solidFill>
            </a:endParaRPr>
          </a:p>
          <a:p>
            <a:pPr defTabSz="914400">
              <a:lnSpc>
                <a:spcPct val="90000"/>
              </a:lnSpc>
              <a:spcAft>
                <a:spcPts val="600"/>
              </a:spcAft>
              <a:buClr>
                <a:schemeClr val="accent1"/>
              </a:buClr>
              <a:buFont typeface="Calibri" panose="020F0502020204030204" pitchFamily="34" charset="0"/>
            </a:pPr>
            <a:endParaRPr lang="tr-TR" sz="3100" b="1" dirty="0">
              <a:solidFill>
                <a:srgbClr val="FFFFFF"/>
              </a:solidFill>
            </a:endParaRPr>
          </a:p>
          <a:p>
            <a:pPr defTabSz="914400">
              <a:lnSpc>
                <a:spcPct val="90000"/>
              </a:lnSpc>
              <a:spcAft>
                <a:spcPts val="600"/>
              </a:spcAft>
              <a:buClr>
                <a:schemeClr val="accent1"/>
              </a:buClr>
              <a:buFont typeface="Calibri" panose="020F0502020204030204" pitchFamily="34" charset="0"/>
            </a:pPr>
            <a:r>
              <a:rPr lang="en-US" sz="3100" dirty="0">
                <a:solidFill>
                  <a:srgbClr val="FFFFFF"/>
                </a:solidFill>
              </a:rPr>
              <a:t>Sigmoid </a:t>
            </a:r>
            <a:r>
              <a:rPr lang="en-US" sz="3100" dirty="0" err="1">
                <a:solidFill>
                  <a:srgbClr val="FFFFFF"/>
                </a:solidFill>
              </a:rPr>
              <a:t>yerine</a:t>
            </a:r>
            <a:r>
              <a:rPr lang="en-US" sz="3100" dirty="0">
                <a:solidFill>
                  <a:srgbClr val="FFFFFF"/>
                </a:solidFill>
              </a:rPr>
              <a:t>, </a:t>
            </a:r>
            <a:r>
              <a:rPr lang="en-US" sz="3100" dirty="0" err="1">
                <a:solidFill>
                  <a:srgbClr val="FFFFFF"/>
                </a:solidFill>
              </a:rPr>
              <a:t>daha</a:t>
            </a:r>
            <a:r>
              <a:rPr lang="en-US" sz="3100" dirty="0">
                <a:solidFill>
                  <a:srgbClr val="FFFFFF"/>
                </a:solidFill>
              </a:rPr>
              <a:t> </a:t>
            </a:r>
            <a:r>
              <a:rPr lang="en-US" sz="3100" dirty="0" err="1">
                <a:solidFill>
                  <a:srgbClr val="FFFFFF"/>
                </a:solidFill>
              </a:rPr>
              <a:t>verimli</a:t>
            </a:r>
            <a:r>
              <a:rPr lang="en-US" sz="3100" dirty="0">
                <a:solidFill>
                  <a:srgbClr val="FFFFFF"/>
                </a:solidFill>
              </a:rPr>
              <a:t> </a:t>
            </a:r>
            <a:r>
              <a:rPr lang="en-US" sz="3100" dirty="0" err="1">
                <a:solidFill>
                  <a:srgbClr val="FFFFFF"/>
                </a:solidFill>
              </a:rPr>
              <a:t>cebirsel</a:t>
            </a:r>
            <a:r>
              <a:rPr lang="en-US" sz="3100" dirty="0">
                <a:solidFill>
                  <a:srgbClr val="FFFFFF"/>
                </a:solidFill>
              </a:rPr>
              <a:t> </a:t>
            </a:r>
            <a:r>
              <a:rPr lang="en-US" sz="3100" dirty="0" err="1">
                <a:solidFill>
                  <a:srgbClr val="FFFFFF"/>
                </a:solidFill>
              </a:rPr>
              <a:t>aktivasyon</a:t>
            </a:r>
            <a:r>
              <a:rPr lang="en-US" sz="3100" dirty="0">
                <a:solidFill>
                  <a:srgbClr val="FFFFFF"/>
                </a:solidFill>
              </a:rPr>
              <a:t> </a:t>
            </a:r>
            <a:r>
              <a:rPr lang="en-US" sz="3100" dirty="0" err="1">
                <a:solidFill>
                  <a:srgbClr val="FFFFFF"/>
                </a:solidFill>
              </a:rPr>
              <a:t>fonksiyonu</a:t>
            </a:r>
            <a:r>
              <a:rPr lang="en-US" sz="3100" dirty="0">
                <a:solidFill>
                  <a:srgbClr val="FFFFFF"/>
                </a:solidFill>
              </a:rPr>
              <a:t>.</a:t>
            </a:r>
            <a:endParaRPr lang="en-US" sz="3100" b="1" dirty="0">
              <a:solidFill>
                <a:srgbClr val="FFFFFF"/>
              </a:solidFill>
            </a:endParaRPr>
          </a:p>
        </p:txBody>
      </p:sp>
      <p:sp>
        <p:nvSpPr>
          <p:cNvPr id="20" name="Rectangle 19">
            <a:extLst>
              <a:ext uri="{FF2B5EF4-FFF2-40B4-BE49-F238E27FC236}">
                <a16:creationId xmlns:a16="http://schemas.microsoft.com/office/drawing/2014/main" id="{8C04651D-B9F4-4935-A02D-364153FBDF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pic>
        <p:nvPicPr>
          <p:cNvPr id="5" name="Resim 4">
            <a:extLst>
              <a:ext uri="{FF2B5EF4-FFF2-40B4-BE49-F238E27FC236}">
                <a16:creationId xmlns:a16="http://schemas.microsoft.com/office/drawing/2014/main" id="{038A445E-1C39-288E-9018-F6D7E8A3FF58}"/>
              </a:ext>
            </a:extLst>
          </p:cNvPr>
          <p:cNvPicPr>
            <a:picLocks noChangeAspect="1"/>
          </p:cNvPicPr>
          <p:nvPr/>
        </p:nvPicPr>
        <p:blipFill>
          <a:blip r:embed="rId2"/>
          <a:srcRect r="-1" b="10327"/>
          <a:stretch>
            <a:fillRect/>
          </a:stretch>
        </p:blipFill>
        <p:spPr>
          <a:xfrm>
            <a:off x="4742017" y="640080"/>
            <a:ext cx="6798082" cy="5577840"/>
          </a:xfrm>
          <a:prstGeom prst="rect">
            <a:avLst/>
          </a:prstGeom>
        </p:spPr>
      </p:pic>
    </p:spTree>
    <p:extLst>
      <p:ext uri="{BB962C8B-B14F-4D97-AF65-F5344CB8AC3E}">
        <p14:creationId xmlns:p14="http://schemas.microsoft.com/office/powerpoint/2010/main" val="1094860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96CD800-C8BF-41B5-983A-3B3D95FA9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6" name="Rectangle 15">
            <a:extLst>
              <a:ext uri="{FF2B5EF4-FFF2-40B4-BE49-F238E27FC236}">
                <a16:creationId xmlns:a16="http://schemas.microsoft.com/office/drawing/2014/main" id="{ED36A27B-61AE-4AA1-8BD6-7310E072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cxnSp>
        <p:nvCxnSpPr>
          <p:cNvPr id="18" name="Straight Connector 17">
            <a:extLst>
              <a:ext uri="{FF2B5EF4-FFF2-40B4-BE49-F238E27FC236}">
                <a16:creationId xmlns:a16="http://schemas.microsoft.com/office/drawing/2014/main" id="{511BC4C5-EB16-4C0B-83E6-96A39848CF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2F888C18-7E74-4A98-A7B4-A5C43583A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045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0436840-698D-4B5F-A7C0-101AD48D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754787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F54CA9CB-9AC1-949C-57FB-5EF67AF1AECF}"/>
              </a:ext>
            </a:extLst>
          </p:cNvPr>
          <p:cNvSpPr txBox="1"/>
          <p:nvPr/>
        </p:nvSpPr>
        <p:spPr>
          <a:xfrm>
            <a:off x="355282" y="627244"/>
            <a:ext cx="5977938" cy="3652667"/>
          </a:xfrm>
          <a:prstGeom prst="rect">
            <a:avLst/>
          </a:prstGeom>
        </p:spPr>
        <p:txBody>
          <a:bodyPr vert="horz" lIns="0" tIns="45720" rIns="0" bIns="45720" rtlCol="0">
            <a:normAutofit lnSpcReduction="10000"/>
          </a:bodyPr>
          <a:lstStyle/>
          <a:p>
            <a:pPr defTabSz="914400">
              <a:lnSpc>
                <a:spcPct val="90000"/>
              </a:lnSpc>
              <a:spcAft>
                <a:spcPts val="600"/>
              </a:spcAft>
              <a:buClr>
                <a:schemeClr val="accent1"/>
              </a:buClr>
              <a:buFont typeface="Calibri" panose="020F0502020204030204" pitchFamily="34" charset="0"/>
            </a:pPr>
            <a:r>
              <a:rPr lang="en-US" sz="3100" b="1" dirty="0">
                <a:solidFill>
                  <a:srgbClr val="FFFFFF"/>
                </a:solidFill>
              </a:rPr>
              <a:t>4. Karar </a:t>
            </a:r>
            <a:r>
              <a:rPr lang="en-US" sz="3100" b="1" dirty="0" err="1">
                <a:solidFill>
                  <a:srgbClr val="FFFFFF"/>
                </a:solidFill>
              </a:rPr>
              <a:t>Ağacı</a:t>
            </a:r>
            <a:r>
              <a:rPr lang="en-US" sz="3100" b="1" dirty="0">
                <a:solidFill>
                  <a:srgbClr val="FFFFFF"/>
                </a:solidFill>
              </a:rPr>
              <a:t> (Hellinger </a:t>
            </a:r>
            <a:r>
              <a:rPr lang="en-US" sz="3100" b="1" dirty="0" err="1">
                <a:solidFill>
                  <a:srgbClr val="FFFFFF"/>
                </a:solidFill>
              </a:rPr>
              <a:t>Kazancı</a:t>
            </a:r>
            <a:r>
              <a:rPr lang="en-US" sz="3100" b="1" dirty="0">
                <a:solidFill>
                  <a:srgbClr val="FFFFFF"/>
                </a:solidFill>
              </a:rPr>
              <a:t>):</a:t>
            </a:r>
            <a:endParaRPr lang="tr-TR" sz="3100" b="1" dirty="0">
              <a:solidFill>
                <a:srgbClr val="FFFFFF"/>
              </a:solidFill>
            </a:endParaRPr>
          </a:p>
          <a:p>
            <a:pPr defTabSz="914400">
              <a:lnSpc>
                <a:spcPct val="90000"/>
              </a:lnSpc>
              <a:spcAft>
                <a:spcPts val="600"/>
              </a:spcAft>
              <a:buClr>
                <a:schemeClr val="accent1"/>
              </a:buClr>
              <a:buFont typeface="Calibri" panose="020F0502020204030204" pitchFamily="34" charset="0"/>
            </a:pPr>
            <a:endParaRPr lang="tr-TR" sz="3100" b="1" dirty="0">
              <a:solidFill>
                <a:srgbClr val="FFFFFF"/>
              </a:solidFill>
            </a:endParaRPr>
          </a:p>
          <a:p>
            <a:pPr defTabSz="914400">
              <a:lnSpc>
                <a:spcPct val="90000"/>
              </a:lnSpc>
              <a:spcAft>
                <a:spcPts val="600"/>
              </a:spcAft>
              <a:buClr>
                <a:schemeClr val="accent1"/>
              </a:buClr>
              <a:buFont typeface="Calibri" panose="020F0502020204030204" pitchFamily="34" charset="0"/>
            </a:pPr>
            <a:r>
              <a:rPr lang="en-US" sz="3100" dirty="0">
                <a:solidFill>
                  <a:srgbClr val="FFFFFF"/>
                </a:solidFill>
              </a:rPr>
              <a:t>Gini </a:t>
            </a:r>
            <a:r>
              <a:rPr lang="en-US" sz="3100" dirty="0" err="1">
                <a:solidFill>
                  <a:srgbClr val="FFFFFF"/>
                </a:solidFill>
              </a:rPr>
              <a:t>yerine</a:t>
            </a:r>
            <a:r>
              <a:rPr lang="en-US" sz="3100" dirty="0">
                <a:solidFill>
                  <a:srgbClr val="FFFFFF"/>
                </a:solidFill>
              </a:rPr>
              <a:t>, </a:t>
            </a:r>
            <a:r>
              <a:rPr lang="en-US" sz="3100" dirty="0" err="1">
                <a:solidFill>
                  <a:srgbClr val="FFFFFF"/>
                </a:solidFill>
              </a:rPr>
              <a:t>istatistiksel</a:t>
            </a:r>
            <a:r>
              <a:rPr lang="en-US" sz="3100" dirty="0">
                <a:solidFill>
                  <a:srgbClr val="FFFFFF"/>
                </a:solidFill>
              </a:rPr>
              <a:t> </a:t>
            </a:r>
            <a:r>
              <a:rPr lang="en-US" sz="3100" dirty="0" err="1">
                <a:solidFill>
                  <a:srgbClr val="FFFFFF"/>
                </a:solidFill>
              </a:rPr>
              <a:t>dağılım</a:t>
            </a:r>
            <a:r>
              <a:rPr lang="en-US" sz="3100" dirty="0">
                <a:solidFill>
                  <a:srgbClr val="FFFFFF"/>
                </a:solidFill>
              </a:rPr>
              <a:t> </a:t>
            </a:r>
            <a:r>
              <a:rPr lang="en-US" sz="3100" dirty="0" err="1">
                <a:solidFill>
                  <a:srgbClr val="FFFFFF"/>
                </a:solidFill>
              </a:rPr>
              <a:t>farklarını</a:t>
            </a:r>
            <a:r>
              <a:rPr lang="en-US" sz="3100" dirty="0">
                <a:solidFill>
                  <a:srgbClr val="FFFFFF"/>
                </a:solidFill>
              </a:rPr>
              <a:t> </a:t>
            </a:r>
            <a:r>
              <a:rPr lang="en-US" sz="3100" dirty="0" err="1">
                <a:solidFill>
                  <a:srgbClr val="FFFFFF"/>
                </a:solidFill>
              </a:rPr>
              <a:t>ölçen</a:t>
            </a:r>
            <a:r>
              <a:rPr lang="en-US" sz="3100" dirty="0">
                <a:solidFill>
                  <a:srgbClr val="FFFFFF"/>
                </a:solidFill>
              </a:rPr>
              <a:t> Hellinger </a:t>
            </a:r>
            <a:r>
              <a:rPr lang="en-US" sz="3100" dirty="0" err="1">
                <a:solidFill>
                  <a:srgbClr val="FFFFFF"/>
                </a:solidFill>
              </a:rPr>
              <a:t>uzaklığı</a:t>
            </a:r>
            <a:r>
              <a:rPr lang="en-US" sz="3100" dirty="0">
                <a:solidFill>
                  <a:srgbClr val="FFFFFF"/>
                </a:solidFill>
              </a:rPr>
              <a:t>.</a:t>
            </a:r>
            <a:endParaRPr lang="tr-TR" sz="3100" dirty="0">
              <a:solidFill>
                <a:srgbClr val="FFFFFF"/>
              </a:solidFill>
            </a:endParaRPr>
          </a:p>
          <a:p>
            <a:pPr defTabSz="914400">
              <a:lnSpc>
                <a:spcPct val="90000"/>
              </a:lnSpc>
              <a:spcAft>
                <a:spcPts val="600"/>
              </a:spcAft>
              <a:buClr>
                <a:schemeClr val="accent1"/>
              </a:buClr>
              <a:buFont typeface="Calibri" panose="020F0502020204030204" pitchFamily="34" charset="0"/>
            </a:pPr>
            <a:endParaRPr lang="tr-TR" sz="3100" dirty="0">
              <a:solidFill>
                <a:srgbClr val="FFFFFF"/>
              </a:solidFill>
            </a:endParaRPr>
          </a:p>
          <a:p>
            <a:pPr defTabSz="914400">
              <a:lnSpc>
                <a:spcPct val="90000"/>
              </a:lnSpc>
              <a:spcAft>
                <a:spcPts val="600"/>
              </a:spcAft>
              <a:buClr>
                <a:schemeClr val="accent1"/>
              </a:buClr>
              <a:buFont typeface="Calibri" panose="020F0502020204030204" pitchFamily="34" charset="0"/>
            </a:pPr>
            <a:r>
              <a:rPr lang="tr-TR" sz="3100" dirty="0" err="1">
                <a:solidFill>
                  <a:srgbClr val="FFFFFF"/>
                </a:solidFill>
              </a:rPr>
              <a:t>Hellinger</a:t>
            </a:r>
            <a:r>
              <a:rPr lang="tr-TR" sz="3100" dirty="0">
                <a:solidFill>
                  <a:srgbClr val="FFFFFF"/>
                </a:solidFill>
              </a:rPr>
              <a:t> mesafesi, iki olasılık dağılımı arasındaki farkı geometrik olarak ölçer ve ayrımı kesinleştirir.</a:t>
            </a:r>
            <a:endParaRPr lang="en-US" sz="3100" dirty="0">
              <a:solidFill>
                <a:srgbClr val="FFFFFF"/>
              </a:solidFill>
            </a:endParaRPr>
          </a:p>
        </p:txBody>
      </p:sp>
      <p:sp>
        <p:nvSpPr>
          <p:cNvPr id="24" name="Rectangle 23">
            <a:extLst>
              <a:ext uri="{FF2B5EF4-FFF2-40B4-BE49-F238E27FC236}">
                <a16:creationId xmlns:a16="http://schemas.microsoft.com/office/drawing/2014/main" id="{3682BE5A-770A-4799-BE6D-CE0BD0AD28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6" name="Rectangle 25">
            <a:extLst>
              <a:ext uri="{FF2B5EF4-FFF2-40B4-BE49-F238E27FC236}">
                <a16:creationId xmlns:a16="http://schemas.microsoft.com/office/drawing/2014/main" id="{85B58713-80A3-4F72-8ADA-A63E6BA8B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3396996"/>
            <a:ext cx="464256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Resim 10">
            <a:extLst>
              <a:ext uri="{FF2B5EF4-FFF2-40B4-BE49-F238E27FC236}">
                <a16:creationId xmlns:a16="http://schemas.microsoft.com/office/drawing/2014/main" id="{0DD0521E-2C79-8796-B907-3D409B62F562}"/>
              </a:ext>
            </a:extLst>
          </p:cNvPr>
          <p:cNvPicPr>
            <a:picLocks noChangeAspect="1"/>
          </p:cNvPicPr>
          <p:nvPr/>
        </p:nvPicPr>
        <p:blipFill>
          <a:blip r:embed="rId2"/>
          <a:stretch>
            <a:fillRect/>
          </a:stretch>
        </p:blipFill>
        <p:spPr>
          <a:xfrm>
            <a:off x="7579126" y="3436341"/>
            <a:ext cx="4613349" cy="3421659"/>
          </a:xfrm>
          <a:prstGeom prst="rect">
            <a:avLst/>
          </a:prstGeom>
        </p:spPr>
      </p:pic>
      <p:pic>
        <p:nvPicPr>
          <p:cNvPr id="13" name="Resim 12">
            <a:extLst>
              <a:ext uri="{FF2B5EF4-FFF2-40B4-BE49-F238E27FC236}">
                <a16:creationId xmlns:a16="http://schemas.microsoft.com/office/drawing/2014/main" id="{E77B3D9F-5831-08E7-5746-EFCBC538A4E0}"/>
              </a:ext>
            </a:extLst>
          </p:cNvPr>
          <p:cNvPicPr>
            <a:picLocks noChangeAspect="1"/>
          </p:cNvPicPr>
          <p:nvPr/>
        </p:nvPicPr>
        <p:blipFill>
          <a:blip r:embed="rId3"/>
          <a:stretch>
            <a:fillRect/>
          </a:stretch>
        </p:blipFill>
        <p:spPr>
          <a:xfrm>
            <a:off x="7579126" y="0"/>
            <a:ext cx="4612873" cy="3396996"/>
          </a:xfrm>
          <a:prstGeom prst="rect">
            <a:avLst/>
          </a:prstGeom>
        </p:spPr>
      </p:pic>
    </p:spTree>
    <p:extLst>
      <p:ext uri="{BB962C8B-B14F-4D97-AF65-F5344CB8AC3E}">
        <p14:creationId xmlns:p14="http://schemas.microsoft.com/office/powerpoint/2010/main" val="956487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2DC10F-CD76-43DC-9E0B-CB291F740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4" name="Rectangle 13">
            <a:extLst>
              <a:ext uri="{FF2B5EF4-FFF2-40B4-BE49-F238E27FC236}">
                <a16:creationId xmlns:a16="http://schemas.microsoft.com/office/drawing/2014/main" id="{1C18170A-08B7-4230-A012-B24C20E39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cxnSp>
        <p:nvCxnSpPr>
          <p:cNvPr id="16" name="Straight Connector 15">
            <a:extLst>
              <a:ext uri="{FF2B5EF4-FFF2-40B4-BE49-F238E27FC236}">
                <a16:creationId xmlns:a16="http://schemas.microsoft.com/office/drawing/2014/main" id="{52188B95-E375-4977-9E9C-E28CE956F6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90F35747-2822-4D06-BE10-CD33AC6B0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045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C2C4466-5B1B-4361-B9D9-39ED9A8A3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754787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Metin kutusu 2">
            <a:extLst>
              <a:ext uri="{FF2B5EF4-FFF2-40B4-BE49-F238E27FC236}">
                <a16:creationId xmlns:a16="http://schemas.microsoft.com/office/drawing/2014/main" id="{A8E00A0A-1703-2E1D-1409-CB2A4F996CB7}"/>
              </a:ext>
            </a:extLst>
          </p:cNvPr>
          <p:cNvSpPr txBox="1"/>
          <p:nvPr/>
        </p:nvSpPr>
        <p:spPr>
          <a:xfrm>
            <a:off x="355282" y="556360"/>
            <a:ext cx="5977938" cy="3652667"/>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3100" b="1" dirty="0">
                <a:solidFill>
                  <a:srgbClr val="FFFFFF"/>
                </a:solidFill>
              </a:rPr>
              <a:t>5. </a:t>
            </a:r>
            <a:r>
              <a:rPr lang="en-US" sz="3100" b="1" dirty="0" err="1">
                <a:solidFill>
                  <a:srgbClr val="FFFFFF"/>
                </a:solidFill>
              </a:rPr>
              <a:t>Rastgele</a:t>
            </a:r>
            <a:r>
              <a:rPr lang="en-US" sz="3100" b="1" dirty="0">
                <a:solidFill>
                  <a:srgbClr val="FFFFFF"/>
                </a:solidFill>
              </a:rPr>
              <a:t> Orman (Dinamik </a:t>
            </a:r>
            <a:r>
              <a:rPr lang="en-US" sz="3100" b="1" dirty="0" err="1">
                <a:solidFill>
                  <a:srgbClr val="FFFFFF"/>
                </a:solidFill>
              </a:rPr>
              <a:t>Seçim</a:t>
            </a:r>
            <a:r>
              <a:rPr lang="en-US" sz="3100" b="1" dirty="0">
                <a:solidFill>
                  <a:srgbClr val="FFFFFF"/>
                </a:solidFill>
              </a:rPr>
              <a:t>):</a:t>
            </a:r>
            <a:r>
              <a:rPr lang="en-US" sz="3100" dirty="0">
                <a:solidFill>
                  <a:srgbClr val="FFFFFF"/>
                </a:solidFill>
              </a:rPr>
              <a:t> </a:t>
            </a:r>
            <a:endParaRPr lang="tr-TR" sz="3100" dirty="0">
              <a:solidFill>
                <a:srgbClr val="FFFFFF"/>
              </a:solidFill>
            </a:endParaRPr>
          </a:p>
          <a:p>
            <a:pPr defTabSz="914400">
              <a:lnSpc>
                <a:spcPct val="90000"/>
              </a:lnSpc>
              <a:spcAft>
                <a:spcPts val="600"/>
              </a:spcAft>
              <a:buClr>
                <a:schemeClr val="accent1"/>
              </a:buClr>
              <a:buFont typeface="Calibri" panose="020F0502020204030204" pitchFamily="34" charset="0"/>
            </a:pPr>
            <a:endParaRPr lang="tr-TR" sz="3100" dirty="0">
              <a:solidFill>
                <a:srgbClr val="FFFFFF"/>
              </a:solidFill>
            </a:endParaRPr>
          </a:p>
          <a:p>
            <a:pPr defTabSz="914400">
              <a:lnSpc>
                <a:spcPct val="90000"/>
              </a:lnSpc>
              <a:spcAft>
                <a:spcPts val="600"/>
              </a:spcAft>
              <a:buClr>
                <a:schemeClr val="accent1"/>
              </a:buClr>
              <a:buFont typeface="Calibri" panose="020F0502020204030204" pitchFamily="34" charset="0"/>
            </a:pPr>
            <a:r>
              <a:rPr lang="en-US" sz="3100" dirty="0">
                <a:solidFill>
                  <a:srgbClr val="FFFFFF"/>
                </a:solidFill>
              </a:rPr>
              <a:t>Sabit </a:t>
            </a:r>
            <a:r>
              <a:rPr lang="en-US" sz="3100" dirty="0" err="1">
                <a:solidFill>
                  <a:srgbClr val="FFFFFF"/>
                </a:solidFill>
              </a:rPr>
              <a:t>oylama</a:t>
            </a:r>
            <a:r>
              <a:rPr lang="en-US" sz="3100" dirty="0">
                <a:solidFill>
                  <a:srgbClr val="FFFFFF"/>
                </a:solidFill>
              </a:rPr>
              <a:t> </a:t>
            </a:r>
            <a:r>
              <a:rPr lang="en-US" sz="3100" dirty="0" err="1">
                <a:solidFill>
                  <a:srgbClr val="FFFFFF"/>
                </a:solidFill>
              </a:rPr>
              <a:t>yerine</a:t>
            </a:r>
            <a:r>
              <a:rPr lang="en-US" sz="3100" dirty="0">
                <a:solidFill>
                  <a:srgbClr val="FFFFFF"/>
                </a:solidFill>
              </a:rPr>
              <a:t>, her test </a:t>
            </a:r>
            <a:r>
              <a:rPr lang="en-US" sz="3100" dirty="0" err="1">
                <a:solidFill>
                  <a:srgbClr val="FFFFFF"/>
                </a:solidFill>
              </a:rPr>
              <a:t>örneği</a:t>
            </a:r>
            <a:r>
              <a:rPr lang="en-US" sz="3100" dirty="0">
                <a:solidFill>
                  <a:srgbClr val="FFFFFF"/>
                </a:solidFill>
              </a:rPr>
              <a:t> </a:t>
            </a:r>
            <a:r>
              <a:rPr lang="en-US" sz="3100" dirty="0" err="1">
                <a:solidFill>
                  <a:srgbClr val="FFFFFF"/>
                </a:solidFill>
              </a:rPr>
              <a:t>için</a:t>
            </a:r>
            <a:r>
              <a:rPr lang="en-US" sz="3100" dirty="0">
                <a:solidFill>
                  <a:srgbClr val="FFFFFF"/>
                </a:solidFill>
              </a:rPr>
              <a:t> o </a:t>
            </a:r>
            <a:r>
              <a:rPr lang="en-US" sz="3100" dirty="0" err="1">
                <a:solidFill>
                  <a:srgbClr val="FFFFFF"/>
                </a:solidFill>
              </a:rPr>
              <a:t>bölgede</a:t>
            </a:r>
            <a:r>
              <a:rPr lang="en-US" sz="3100" dirty="0">
                <a:solidFill>
                  <a:srgbClr val="FFFFFF"/>
                </a:solidFill>
              </a:rPr>
              <a:t> </a:t>
            </a:r>
            <a:r>
              <a:rPr lang="en-US" sz="3100" dirty="0" err="1">
                <a:solidFill>
                  <a:srgbClr val="FFFFFF"/>
                </a:solidFill>
              </a:rPr>
              <a:t>başarılı</a:t>
            </a:r>
            <a:r>
              <a:rPr lang="en-US" sz="3100" dirty="0">
                <a:solidFill>
                  <a:srgbClr val="FFFFFF"/>
                </a:solidFill>
              </a:rPr>
              <a:t> </a:t>
            </a:r>
            <a:r>
              <a:rPr lang="en-US" sz="3100" dirty="0" err="1">
                <a:solidFill>
                  <a:srgbClr val="FFFFFF"/>
                </a:solidFill>
              </a:rPr>
              <a:t>olan</a:t>
            </a:r>
            <a:r>
              <a:rPr lang="en-US" sz="3100" dirty="0">
                <a:solidFill>
                  <a:srgbClr val="FFFFFF"/>
                </a:solidFill>
              </a:rPr>
              <a:t> "</a:t>
            </a:r>
            <a:r>
              <a:rPr lang="en-US" sz="3100" dirty="0" err="1">
                <a:solidFill>
                  <a:srgbClr val="FFFFFF"/>
                </a:solidFill>
              </a:rPr>
              <a:t>uzman</a:t>
            </a:r>
            <a:r>
              <a:rPr lang="en-US" sz="3100" dirty="0">
                <a:solidFill>
                  <a:srgbClr val="FFFFFF"/>
                </a:solidFill>
              </a:rPr>
              <a:t>" </a:t>
            </a:r>
            <a:r>
              <a:rPr lang="en-US" sz="3100" dirty="0" err="1">
                <a:solidFill>
                  <a:srgbClr val="FFFFFF"/>
                </a:solidFill>
              </a:rPr>
              <a:t>ağaçların</a:t>
            </a:r>
            <a:r>
              <a:rPr lang="en-US" sz="3100" dirty="0">
                <a:solidFill>
                  <a:srgbClr val="FFFFFF"/>
                </a:solidFill>
              </a:rPr>
              <a:t> </a:t>
            </a:r>
            <a:r>
              <a:rPr lang="en-US" sz="3100" dirty="0" err="1">
                <a:solidFill>
                  <a:srgbClr val="FFFFFF"/>
                </a:solidFill>
              </a:rPr>
              <a:t>seçilmesi</a:t>
            </a:r>
            <a:r>
              <a:rPr lang="en-US" sz="3100" dirty="0">
                <a:solidFill>
                  <a:srgbClr val="FFFFFF"/>
                </a:solidFill>
              </a:rPr>
              <a:t>.</a:t>
            </a:r>
          </a:p>
        </p:txBody>
      </p:sp>
      <p:sp>
        <p:nvSpPr>
          <p:cNvPr id="22" name="Rectangle 21">
            <a:extLst>
              <a:ext uri="{FF2B5EF4-FFF2-40B4-BE49-F238E27FC236}">
                <a16:creationId xmlns:a16="http://schemas.microsoft.com/office/drawing/2014/main" id="{FD745DAE-5A8A-44FA-937C-CD65CF7AE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pic>
        <p:nvPicPr>
          <p:cNvPr id="7" name="Resim 6">
            <a:extLst>
              <a:ext uri="{FF2B5EF4-FFF2-40B4-BE49-F238E27FC236}">
                <a16:creationId xmlns:a16="http://schemas.microsoft.com/office/drawing/2014/main" id="{04ECDAA6-A059-7D50-2458-6FE6940C2124}"/>
              </a:ext>
            </a:extLst>
          </p:cNvPr>
          <p:cNvPicPr>
            <a:picLocks noChangeAspect="1"/>
          </p:cNvPicPr>
          <p:nvPr/>
        </p:nvPicPr>
        <p:blipFill>
          <a:blip r:embed="rId2"/>
          <a:stretch>
            <a:fillRect/>
          </a:stretch>
        </p:blipFill>
        <p:spPr>
          <a:xfrm>
            <a:off x="7546353" y="3429000"/>
            <a:ext cx="4645647" cy="3429000"/>
          </a:xfrm>
          <a:prstGeom prst="rect">
            <a:avLst/>
          </a:prstGeom>
        </p:spPr>
      </p:pic>
      <p:sp>
        <p:nvSpPr>
          <p:cNvPr id="24" name="Rectangle 23">
            <a:extLst>
              <a:ext uri="{FF2B5EF4-FFF2-40B4-BE49-F238E27FC236}">
                <a16:creationId xmlns:a16="http://schemas.microsoft.com/office/drawing/2014/main" id="{67696AA1-B1DD-4C75-9AC1-69EE9F65F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3396996"/>
            <a:ext cx="464256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a:extLst>
              <a:ext uri="{FF2B5EF4-FFF2-40B4-BE49-F238E27FC236}">
                <a16:creationId xmlns:a16="http://schemas.microsoft.com/office/drawing/2014/main" id="{9C0DAAB7-D2E5-FB2A-5710-4E718C95B02C}"/>
              </a:ext>
            </a:extLst>
          </p:cNvPr>
          <p:cNvPicPr>
            <a:picLocks noChangeAspect="1"/>
          </p:cNvPicPr>
          <p:nvPr/>
        </p:nvPicPr>
        <p:blipFill>
          <a:blip r:embed="rId3"/>
          <a:stretch>
            <a:fillRect/>
          </a:stretch>
        </p:blipFill>
        <p:spPr>
          <a:xfrm>
            <a:off x="7546353" y="0"/>
            <a:ext cx="4645647" cy="3396510"/>
          </a:xfrm>
          <a:prstGeom prst="rect">
            <a:avLst/>
          </a:prstGeom>
        </p:spPr>
      </p:pic>
    </p:spTree>
    <p:extLst>
      <p:ext uri="{BB962C8B-B14F-4D97-AF65-F5344CB8AC3E}">
        <p14:creationId xmlns:p14="http://schemas.microsoft.com/office/powerpoint/2010/main" val="4224691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DD6A8998-151F-6BEF-E9E4-53247A0715C3}"/>
              </a:ext>
            </a:extLst>
          </p:cNvPr>
          <p:cNvSpPr txBox="1"/>
          <p:nvPr/>
        </p:nvSpPr>
        <p:spPr>
          <a:xfrm>
            <a:off x="652130" y="143584"/>
            <a:ext cx="6096000" cy="1785104"/>
          </a:xfrm>
          <a:prstGeom prst="rect">
            <a:avLst/>
          </a:prstGeom>
          <a:noFill/>
        </p:spPr>
        <p:txBody>
          <a:bodyPr wrap="square">
            <a:spAutoFit/>
          </a:bodyPr>
          <a:lstStyle/>
          <a:p>
            <a:pPr>
              <a:buNone/>
            </a:pPr>
            <a:r>
              <a:rPr lang="tr-TR" sz="3100" b="1" dirty="0"/>
              <a:t>Performans Karşılaştırması</a:t>
            </a:r>
          </a:p>
          <a:p>
            <a:pPr>
              <a:buNone/>
            </a:pPr>
            <a:endParaRPr lang="tr-TR" sz="3100" dirty="0"/>
          </a:p>
          <a:p>
            <a:pPr>
              <a:buFont typeface="Arial" panose="020B0604020202020204" pitchFamily="34" charset="0"/>
              <a:buChar char="•"/>
            </a:pPr>
            <a:r>
              <a:rPr lang="tr-TR" sz="2400" b="1" dirty="0"/>
              <a:t>En İyi Model:</a:t>
            </a:r>
            <a:r>
              <a:rPr lang="tr-TR" sz="2400" dirty="0"/>
              <a:t> Özgün KNN (%93.4 Doğruluk).</a:t>
            </a:r>
          </a:p>
          <a:p>
            <a:pPr>
              <a:buFont typeface="Arial" panose="020B0604020202020204" pitchFamily="34" charset="0"/>
              <a:buChar char="•"/>
            </a:pPr>
            <a:endParaRPr lang="tr-TR" sz="2400" dirty="0"/>
          </a:p>
        </p:txBody>
      </p:sp>
      <p:pic>
        <p:nvPicPr>
          <p:cNvPr id="5" name="Resim 4">
            <a:extLst>
              <a:ext uri="{FF2B5EF4-FFF2-40B4-BE49-F238E27FC236}">
                <a16:creationId xmlns:a16="http://schemas.microsoft.com/office/drawing/2014/main" id="{700CB72C-AADE-03C0-B31F-E09FBED0DF83}"/>
              </a:ext>
            </a:extLst>
          </p:cNvPr>
          <p:cNvPicPr>
            <a:picLocks noChangeAspect="1"/>
          </p:cNvPicPr>
          <p:nvPr/>
        </p:nvPicPr>
        <p:blipFill>
          <a:blip r:embed="rId2"/>
          <a:stretch>
            <a:fillRect/>
          </a:stretch>
        </p:blipFill>
        <p:spPr>
          <a:xfrm>
            <a:off x="652130" y="2144011"/>
            <a:ext cx="10632558" cy="3609773"/>
          </a:xfrm>
          <a:prstGeom prst="rect">
            <a:avLst/>
          </a:prstGeom>
        </p:spPr>
      </p:pic>
    </p:spTree>
    <p:extLst>
      <p:ext uri="{BB962C8B-B14F-4D97-AF65-F5344CB8AC3E}">
        <p14:creationId xmlns:p14="http://schemas.microsoft.com/office/powerpoint/2010/main" val="435619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etin kutusu 2">
                <a:extLst>
                  <a:ext uri="{FF2B5EF4-FFF2-40B4-BE49-F238E27FC236}">
                    <a16:creationId xmlns:a16="http://schemas.microsoft.com/office/drawing/2014/main" id="{0E1FA672-2A71-5076-18CA-B8E57E8DE983}"/>
                  </a:ext>
                </a:extLst>
              </p:cNvPr>
              <p:cNvSpPr txBox="1"/>
              <p:nvPr/>
            </p:nvSpPr>
            <p:spPr>
              <a:xfrm>
                <a:off x="725214" y="343213"/>
                <a:ext cx="8910670" cy="5671937"/>
              </a:xfrm>
              <a:prstGeom prst="rect">
                <a:avLst/>
              </a:prstGeom>
              <a:noFill/>
            </p:spPr>
            <p:txBody>
              <a:bodyPr wrap="square">
                <a:spAutoFit/>
              </a:bodyPr>
              <a:lstStyle/>
              <a:p>
                <a:pPr>
                  <a:buNone/>
                </a:pPr>
                <a:r>
                  <a:rPr lang="tr-TR" sz="2000" b="1" dirty="0"/>
                  <a:t>Özgün Algoritmaların (KNN, SVM, LR) Başarı Nedenleri</a:t>
                </a:r>
              </a:p>
              <a:p>
                <a:pPr>
                  <a:buNone/>
                </a:pPr>
                <a:endParaRPr lang="tr-TR" sz="2000" b="1" dirty="0"/>
              </a:p>
              <a:p>
                <a:pPr>
                  <a:buNone/>
                </a:pPr>
                <a:r>
                  <a:rPr lang="tr-TR" sz="2000" dirty="0"/>
                  <a:t>Özgün KNN (Log-</a:t>
                </a:r>
                <a:r>
                  <a:rPr lang="tr-TR" sz="2000" dirty="0" err="1"/>
                  <a:t>Quad</a:t>
                </a:r>
                <a:r>
                  <a:rPr lang="tr-TR" sz="2000" dirty="0"/>
                  <a:t>), SVM (</a:t>
                </a:r>
                <a:r>
                  <a:rPr lang="tr-TR" sz="2000" dirty="0" err="1"/>
                  <a:t>Bessel-Laplacian</a:t>
                </a:r>
                <a:r>
                  <a:rPr lang="tr-TR" sz="2000" dirty="0"/>
                  <a:t>) ve Lojistik Regresyon (ISRU) modellerinin standart versiyonlara göre daha yüksek performans (özellikle Duyarlılık ve F-Ölçütü bazında) göstermesinin temel nedenleri şunlardır:</a:t>
                </a:r>
              </a:p>
              <a:p>
                <a:pPr>
                  <a:buNone/>
                </a:pPr>
                <a:endParaRPr lang="tr-TR" sz="2000" dirty="0"/>
              </a:p>
              <a:p>
                <a:r>
                  <a:rPr lang="tr-TR" sz="2000" b="1" dirty="0"/>
                  <a:t>KNN ve Log-Karesel (Log-</a:t>
                </a:r>
                <a:r>
                  <a:rPr lang="tr-TR" sz="2000" b="1" dirty="0" err="1"/>
                  <a:t>Quadratic</a:t>
                </a:r>
                <a:r>
                  <a:rPr lang="tr-TR" sz="2000" b="1" dirty="0"/>
                  <a:t>) Mesafe Metriği:</a:t>
                </a:r>
              </a:p>
              <a:p>
                <a:endParaRPr lang="tr-TR" sz="2000" dirty="0"/>
              </a:p>
              <a:p>
                <a:pPr marL="285750" indent="-285750">
                  <a:buFont typeface="Arial" panose="020B0604020202020204" pitchFamily="34" charset="0"/>
                  <a:buChar char="•"/>
                </a:pPr>
                <a:r>
                  <a:rPr lang="tr-TR" sz="2000" b="1" dirty="0"/>
                  <a:t>Standart Yöntem Kısıtı:</a:t>
                </a:r>
                <a:r>
                  <a:rPr lang="tr-TR" sz="2000" dirty="0"/>
                  <a:t> Standart </a:t>
                </a:r>
                <a:r>
                  <a:rPr lang="tr-TR" sz="2000" dirty="0" err="1"/>
                  <a:t>KNN'de</a:t>
                </a:r>
                <a:r>
                  <a:rPr lang="tr-TR" sz="2000" dirty="0"/>
                  <a:t> kullanılan Öklid (</a:t>
                </a:r>
                <a:r>
                  <a:rPr lang="tr-TR" sz="2000" dirty="0" err="1"/>
                  <a:t>Euclidean</a:t>
                </a:r>
                <a:r>
                  <a:rPr lang="tr-TR" sz="2000" dirty="0"/>
                  <a:t>) mesafesi, özellikler arasındaki farkların karesini alır </a:t>
                </a:r>
                <a14:m>
                  <m:oMath xmlns:m="http://schemas.openxmlformats.org/officeDocument/2006/math">
                    <m:d>
                      <m:dPr>
                        <m:ctrlPr>
                          <a:rPr lang="tr-TR" sz="2000" b="0" i="1" dirty="0" smtClean="0">
                            <a:latin typeface="Cambria Math" panose="02040503050406030204" pitchFamily="18" charset="0"/>
                          </a:rPr>
                        </m:ctrlPr>
                      </m:dPr>
                      <m:e>
                        <m:sSup>
                          <m:sSupPr>
                            <m:ctrlPr>
                              <a:rPr lang="tr-TR" sz="2000" b="0" i="1" dirty="0" smtClean="0">
                                <a:latin typeface="Cambria Math" panose="02040503050406030204" pitchFamily="18" charset="0"/>
                              </a:rPr>
                            </m:ctrlPr>
                          </m:sSupPr>
                          <m:e>
                            <m:d>
                              <m:dPr>
                                <m:ctrlPr>
                                  <a:rPr lang="tr-TR" sz="2000" b="0" i="1" dirty="0" smtClean="0">
                                    <a:latin typeface="Cambria Math" panose="02040503050406030204" pitchFamily="18" charset="0"/>
                                  </a:rPr>
                                </m:ctrlPr>
                              </m:dPr>
                              <m:e>
                                <m:sSub>
                                  <m:sSubPr>
                                    <m:ctrlPr>
                                      <a:rPr lang="tr-TR" sz="2000" b="0" i="1" dirty="0" smtClean="0">
                                        <a:latin typeface="Cambria Math" panose="02040503050406030204" pitchFamily="18" charset="0"/>
                                      </a:rPr>
                                    </m:ctrlPr>
                                  </m:sSubPr>
                                  <m:e>
                                    <m:r>
                                      <a:rPr lang="tr-TR" sz="2000" i="1" dirty="0" smtClean="0">
                                        <a:latin typeface="Cambria Math" panose="02040503050406030204" pitchFamily="18" charset="0"/>
                                      </a:rPr>
                                      <m:t>𝑥</m:t>
                                    </m:r>
                                  </m:e>
                                  <m:sub>
                                    <m:r>
                                      <a:rPr lang="tr-TR" sz="2000" i="1" dirty="0">
                                        <a:effectLst/>
                                        <a:latin typeface="Cambria Math" panose="02040503050406030204" pitchFamily="18" charset="0"/>
                                      </a:rPr>
                                      <m:t>𝑖</m:t>
                                    </m:r>
                                    <m:r>
                                      <a:rPr lang="tr-TR" sz="2000" i="1" dirty="0">
                                        <a:latin typeface="Cambria Math" panose="02040503050406030204" pitchFamily="18" charset="0"/>
                                      </a:rPr>
                                      <m:t>​</m:t>
                                    </m:r>
                                  </m:sub>
                                </m:sSub>
                                <m:r>
                                  <a:rPr lang="tr-TR" sz="2000" i="1" dirty="0">
                                    <a:latin typeface="Cambria Math" panose="02040503050406030204" pitchFamily="18" charset="0"/>
                                  </a:rPr>
                                  <m:t>−</m:t>
                                </m:r>
                                <m:sSub>
                                  <m:sSubPr>
                                    <m:ctrlPr>
                                      <a:rPr lang="tr-TR" sz="2000" b="0" i="1" dirty="0" smtClean="0">
                                        <a:effectLst/>
                                        <a:latin typeface="Cambria Math" panose="02040503050406030204" pitchFamily="18" charset="0"/>
                                      </a:rPr>
                                    </m:ctrlPr>
                                  </m:sSubPr>
                                  <m:e>
                                    <m:r>
                                      <a:rPr lang="tr-TR" sz="2000" i="1" dirty="0" err="1">
                                        <a:effectLst/>
                                        <a:latin typeface="Cambria Math" panose="02040503050406030204" pitchFamily="18" charset="0"/>
                                      </a:rPr>
                                      <m:t>𝑦</m:t>
                                    </m:r>
                                  </m:e>
                                  <m:sub>
                                    <m:r>
                                      <a:rPr lang="tr-TR" sz="2000" i="1" dirty="0" err="1">
                                        <a:effectLst/>
                                        <a:latin typeface="Cambria Math" panose="02040503050406030204" pitchFamily="18" charset="0"/>
                                      </a:rPr>
                                      <m:t>𝑖</m:t>
                                    </m:r>
                                    <m:r>
                                      <a:rPr lang="tr-TR" sz="2000" i="1" dirty="0">
                                        <a:latin typeface="Cambria Math" panose="02040503050406030204" pitchFamily="18" charset="0"/>
                                      </a:rPr>
                                      <m:t>​</m:t>
                                    </m:r>
                                  </m:sub>
                                </m:sSub>
                              </m:e>
                            </m:d>
                          </m:e>
                          <m:sup>
                            <m:r>
                              <a:rPr lang="tr-TR" sz="2000" i="1" dirty="0" smtClean="0">
                                <a:effectLst/>
                                <a:latin typeface="Cambria Math" panose="02040503050406030204" pitchFamily="18" charset="0"/>
                              </a:rPr>
                              <m:t>2</m:t>
                            </m:r>
                          </m:sup>
                        </m:sSup>
                      </m:e>
                    </m:d>
                    <m:r>
                      <a:rPr lang="tr-TR" sz="2000" i="1" dirty="0">
                        <a:latin typeface="Cambria Math" panose="02040503050406030204" pitchFamily="18" charset="0"/>
                      </a:rPr>
                      <m:t>. </m:t>
                    </m:r>
                  </m:oMath>
                </a14:m>
                <a:r>
                  <a:rPr lang="tr-TR" sz="2000" dirty="0"/>
                  <a:t>Bu durum, aykırı değerlerin (</a:t>
                </a:r>
                <a:r>
                  <a:rPr lang="tr-TR" sz="2000" dirty="0" err="1"/>
                  <a:t>outliers</a:t>
                </a:r>
                <a:r>
                  <a:rPr lang="tr-TR" sz="2000" dirty="0"/>
                  <a:t>) toplam mesafe üzerindeki etkisini aşırı büyüterek (karesel ceza) gürültüye karşı hassasiyet yaratır.</a:t>
                </a:r>
                <a14:m>
                  <m:oMath xmlns:m="http://schemas.openxmlformats.org/officeDocument/2006/math">
                    <m:r>
                      <a:rPr lang="nn-NO" sz="2000" i="1" smtClean="0"/>
                      <m:t> </m:t>
                    </m:r>
                  </m:oMath>
                </a14:m>
                <a:endParaRPr lang="tr-TR" sz="2000" b="1" dirty="0"/>
              </a:p>
              <a:p>
                <a:pPr marL="742950" lvl="1" indent="-285750">
                  <a:buFont typeface="Arial" panose="020B0604020202020204" pitchFamily="34" charset="0"/>
                  <a:buChar char="•"/>
                </a:pPr>
                <a:endParaRPr lang="tr-TR" sz="2000" b="1" dirty="0"/>
              </a:p>
              <a:p>
                <a:pPr marL="285750" indent="-285750">
                  <a:buFont typeface="Arial" panose="020B0604020202020204" pitchFamily="34" charset="0"/>
                  <a:buChar char="•"/>
                </a:pPr>
                <a:r>
                  <a:rPr lang="tr-TR" sz="2000" b="1" dirty="0"/>
                  <a:t>Özgün Yöntem Başarısı:</a:t>
                </a:r>
                <a:r>
                  <a:rPr lang="tr-TR" sz="2000" dirty="0"/>
                  <a:t> Geliştirilen Log-Karesel metrik, farkların karesinin logaritmasını alarak </a:t>
                </a:r>
                <a14:m>
                  <m:oMath xmlns:m="http://schemas.openxmlformats.org/officeDocument/2006/math">
                    <m:d>
                      <m:dPr>
                        <m:ctrlPr>
                          <a:rPr lang="tr-TR" sz="2000" i="1" dirty="0" smtClean="0">
                            <a:effectLst/>
                            <a:latin typeface="Cambria Math" panose="02040503050406030204" pitchFamily="18" charset="0"/>
                          </a:rPr>
                        </m:ctrlPr>
                      </m:dPr>
                      <m:e>
                        <m:func>
                          <m:funcPr>
                            <m:ctrlPr>
                              <a:rPr lang="tr-TR" sz="2000" i="1" dirty="0">
                                <a:effectLst/>
                                <a:latin typeface="Cambria Math" panose="02040503050406030204" pitchFamily="18" charset="0"/>
                              </a:rPr>
                            </m:ctrlPr>
                          </m:funcPr>
                          <m:fName>
                            <m:r>
                              <m:rPr>
                                <m:sty m:val="p"/>
                              </m:rPr>
                              <a:rPr lang="tr-TR" sz="2000" i="0" dirty="0" smtClean="0">
                                <a:latin typeface="Cambria Math" panose="02040503050406030204" pitchFamily="18" charset="0"/>
                              </a:rPr>
                              <m:t>lo</m:t>
                            </m:r>
                            <m:r>
                              <m:rPr>
                                <m:sty m:val="p"/>
                              </m:rPr>
                              <a:rPr lang="tr-TR" sz="2000" i="0" dirty="0">
                                <a:effectLst/>
                                <a:latin typeface="Cambria Math" panose="02040503050406030204" pitchFamily="18" charset="0"/>
                              </a:rPr>
                              <m:t>g</m:t>
                            </m:r>
                            <m:r>
                              <a:rPr lang="tr-TR" sz="2000" b="0" i="0" dirty="0" smtClean="0">
                                <a:effectLst/>
                                <a:latin typeface="Cambria Math" panose="02040503050406030204" pitchFamily="18" charset="0"/>
                              </a:rPr>
                              <m:t>(1+</m:t>
                            </m:r>
                          </m:fName>
                          <m:e>
                            <m:sSup>
                              <m:sSupPr>
                                <m:ctrlPr>
                                  <a:rPr lang="tr-TR" sz="2000" i="1" dirty="0">
                                    <a:latin typeface="Cambria Math" panose="02040503050406030204" pitchFamily="18" charset="0"/>
                                  </a:rPr>
                                </m:ctrlPr>
                              </m:sSupPr>
                              <m:e>
                                <m:d>
                                  <m:dPr>
                                    <m:ctrlPr>
                                      <a:rPr lang="tr-TR" sz="2000" i="1" dirty="0">
                                        <a:latin typeface="Cambria Math" panose="02040503050406030204" pitchFamily="18" charset="0"/>
                                      </a:rPr>
                                    </m:ctrlPr>
                                  </m:dPr>
                                  <m:e>
                                    <m:sSub>
                                      <m:sSubPr>
                                        <m:ctrlPr>
                                          <a:rPr lang="tr-TR" sz="2000" i="1" dirty="0">
                                            <a:latin typeface="Cambria Math" panose="02040503050406030204" pitchFamily="18" charset="0"/>
                                          </a:rPr>
                                        </m:ctrlPr>
                                      </m:sSubPr>
                                      <m:e>
                                        <m:r>
                                          <a:rPr lang="tr-TR" sz="2000" i="1" dirty="0">
                                            <a:latin typeface="Cambria Math" panose="02040503050406030204" pitchFamily="18" charset="0"/>
                                          </a:rPr>
                                          <m:t>𝑥</m:t>
                                        </m:r>
                                      </m:e>
                                      <m:sub>
                                        <m:r>
                                          <a:rPr lang="tr-TR" sz="2000" i="1" dirty="0">
                                            <a:latin typeface="Cambria Math" panose="02040503050406030204" pitchFamily="18" charset="0"/>
                                          </a:rPr>
                                          <m:t>𝑖</m:t>
                                        </m:r>
                                        <m:r>
                                          <a:rPr lang="tr-TR" sz="2000" i="1" dirty="0">
                                            <a:latin typeface="Cambria Math" panose="02040503050406030204" pitchFamily="18" charset="0"/>
                                          </a:rPr>
                                          <m:t>​</m:t>
                                        </m:r>
                                      </m:sub>
                                    </m:sSub>
                                    <m:r>
                                      <a:rPr lang="tr-TR" sz="2000" i="1" dirty="0">
                                        <a:latin typeface="Cambria Math" panose="02040503050406030204" pitchFamily="18" charset="0"/>
                                      </a:rPr>
                                      <m:t>−</m:t>
                                    </m:r>
                                    <m:sSub>
                                      <m:sSubPr>
                                        <m:ctrlPr>
                                          <a:rPr lang="tr-TR" sz="2000" i="1" dirty="0">
                                            <a:latin typeface="Cambria Math" panose="02040503050406030204" pitchFamily="18" charset="0"/>
                                          </a:rPr>
                                        </m:ctrlPr>
                                      </m:sSubPr>
                                      <m:e>
                                        <m:r>
                                          <a:rPr lang="tr-TR" sz="2000" i="1" dirty="0" err="1">
                                            <a:latin typeface="Cambria Math" panose="02040503050406030204" pitchFamily="18" charset="0"/>
                                          </a:rPr>
                                          <m:t>𝑦</m:t>
                                        </m:r>
                                      </m:e>
                                      <m:sub>
                                        <m:r>
                                          <a:rPr lang="tr-TR" sz="2000" i="1" dirty="0" err="1">
                                            <a:latin typeface="Cambria Math" panose="02040503050406030204" pitchFamily="18" charset="0"/>
                                          </a:rPr>
                                          <m:t>𝑖</m:t>
                                        </m:r>
                                        <m:r>
                                          <a:rPr lang="tr-TR" sz="2000" i="1" dirty="0">
                                            <a:latin typeface="Cambria Math" panose="02040503050406030204" pitchFamily="18" charset="0"/>
                                          </a:rPr>
                                          <m:t>​</m:t>
                                        </m:r>
                                      </m:sub>
                                    </m:sSub>
                                  </m:e>
                                </m:d>
                              </m:e>
                              <m:sup>
                                <m:r>
                                  <a:rPr lang="tr-TR" sz="2000" i="1" dirty="0">
                                    <a:latin typeface="Cambria Math" panose="02040503050406030204" pitchFamily="18" charset="0"/>
                                  </a:rPr>
                                  <m:t>2</m:t>
                                </m:r>
                              </m:sup>
                            </m:sSup>
                          </m:e>
                        </m:func>
                      </m:e>
                    </m:d>
                  </m:oMath>
                </a14:m>
                <a:r>
                  <a:rPr lang="tr-TR" sz="2000" dirty="0"/>
                  <a:t> büyüklük etkisini sönümler. Tıbbi verilerde sıkça rastlanan ölçüm hataları veya ekstrem değerler (</a:t>
                </a:r>
                <a:r>
                  <a:rPr lang="tr-TR" sz="2000" dirty="0" err="1"/>
                  <a:t>örn</a:t>
                </a:r>
                <a:r>
                  <a:rPr lang="tr-TR" sz="2000" dirty="0"/>
                  <a:t>. aşırı yüksek kolesterol) bu metrik sayesinde modelin kararını daha az etkiler. Bu "</a:t>
                </a:r>
                <a:r>
                  <a:rPr lang="tr-TR" sz="2000" dirty="0" err="1"/>
                  <a:t>Robust</a:t>
                </a:r>
                <a:r>
                  <a:rPr lang="tr-TR" sz="2000" dirty="0"/>
                  <a:t> (Dirençli)" yapı, modelin genelleme yeteneğini artırmıştır.</a:t>
                </a:r>
              </a:p>
            </p:txBody>
          </p:sp>
        </mc:Choice>
        <mc:Fallback>
          <p:sp>
            <p:nvSpPr>
              <p:cNvPr id="3" name="Metin kutusu 2">
                <a:extLst>
                  <a:ext uri="{FF2B5EF4-FFF2-40B4-BE49-F238E27FC236}">
                    <a16:creationId xmlns:a16="http://schemas.microsoft.com/office/drawing/2014/main" id="{0E1FA672-2A71-5076-18CA-B8E57E8DE983}"/>
                  </a:ext>
                </a:extLst>
              </p:cNvPr>
              <p:cNvSpPr txBox="1">
                <a:spLocks noRot="1" noChangeAspect="1" noMove="1" noResize="1" noEditPoints="1" noAdjustHandles="1" noChangeArrowheads="1" noChangeShapeType="1" noTextEdit="1"/>
              </p:cNvSpPr>
              <p:nvPr/>
            </p:nvSpPr>
            <p:spPr>
              <a:xfrm>
                <a:off x="725214" y="343213"/>
                <a:ext cx="8910670" cy="5671937"/>
              </a:xfrm>
              <a:prstGeom prst="rect">
                <a:avLst/>
              </a:prstGeom>
              <a:blipFill>
                <a:blip r:embed="rId2"/>
                <a:stretch>
                  <a:fillRect l="-752" t="-537" r="-274" b="-859"/>
                </a:stretch>
              </a:blipFill>
            </p:spPr>
            <p:txBody>
              <a:bodyPr/>
              <a:lstStyle/>
              <a:p>
                <a:r>
                  <a:rPr lang="tr-TR">
                    <a:noFill/>
                  </a:rPr>
                  <a:t> </a:t>
                </a:r>
              </a:p>
            </p:txBody>
          </p:sp>
        </mc:Fallback>
      </mc:AlternateContent>
    </p:spTree>
    <p:extLst>
      <p:ext uri="{BB962C8B-B14F-4D97-AF65-F5344CB8AC3E}">
        <p14:creationId xmlns:p14="http://schemas.microsoft.com/office/powerpoint/2010/main" val="3738463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48A3FBAA-BD27-D11D-7EDF-534F025F09C5}"/>
              </a:ext>
            </a:extLst>
          </p:cNvPr>
          <p:cNvSpPr txBox="1"/>
          <p:nvPr/>
        </p:nvSpPr>
        <p:spPr>
          <a:xfrm>
            <a:off x="460353" y="378373"/>
            <a:ext cx="8682070" cy="3785652"/>
          </a:xfrm>
          <a:prstGeom prst="rect">
            <a:avLst/>
          </a:prstGeom>
          <a:noFill/>
        </p:spPr>
        <p:txBody>
          <a:bodyPr wrap="square">
            <a:spAutoFit/>
          </a:bodyPr>
          <a:lstStyle/>
          <a:p>
            <a:pPr>
              <a:buNone/>
            </a:pPr>
            <a:r>
              <a:rPr lang="tr-TR" sz="2000" b="1" dirty="0"/>
              <a:t>SVM ve </a:t>
            </a:r>
            <a:r>
              <a:rPr lang="tr-TR" sz="2000" b="1" dirty="0" err="1"/>
              <a:t>Bessel-Laplacian</a:t>
            </a:r>
            <a:r>
              <a:rPr lang="tr-TR" sz="2000" b="1" dirty="0"/>
              <a:t> Hibrit Çekirdeği:</a:t>
            </a:r>
          </a:p>
          <a:p>
            <a:pPr>
              <a:buNone/>
            </a:pPr>
            <a:endParaRPr lang="tr-TR" sz="2000" dirty="0"/>
          </a:p>
          <a:p>
            <a:pPr>
              <a:buFont typeface="Arial" panose="020B0604020202020204" pitchFamily="34" charset="0"/>
              <a:buChar char="•"/>
            </a:pPr>
            <a:r>
              <a:rPr lang="tr-TR" sz="2000" b="1" dirty="0"/>
              <a:t>    Standart Yöntem Kısıtı:</a:t>
            </a:r>
            <a:r>
              <a:rPr lang="tr-TR" sz="2000" dirty="0"/>
              <a:t> Standart RBF (Radyal Tabanlı Fonksiyon) çekirdeği, veriyi sonsuz boyutlu uzaya taşırken tek bir </a:t>
            </a:r>
            <a:r>
              <a:rPr lang="el-GR" sz="2000" dirty="0">
                <a:effectLst/>
              </a:rPr>
              <a:t>γ</a:t>
            </a:r>
            <a:r>
              <a:rPr lang="el-GR" sz="2000" dirty="0"/>
              <a:t> (</a:t>
            </a:r>
            <a:r>
              <a:rPr lang="tr-TR" sz="2000" dirty="0"/>
              <a:t>gamma) parametresi ile yerel benzerliklere odaklanır. Ancak karmaşık biyolojik verilerde hem yerel kümeler hem de global dağılımlar etkili olabilir.</a:t>
            </a:r>
          </a:p>
          <a:p>
            <a:pPr>
              <a:buFont typeface="Arial" panose="020B0604020202020204" pitchFamily="34" charset="0"/>
              <a:buChar char="•"/>
            </a:pPr>
            <a:endParaRPr lang="tr-TR" sz="2000" dirty="0"/>
          </a:p>
          <a:p>
            <a:pPr>
              <a:buFont typeface="Arial" panose="020B0604020202020204" pitchFamily="34" charset="0"/>
              <a:buChar char="•"/>
            </a:pPr>
            <a:r>
              <a:rPr lang="tr-TR" sz="2000" b="1" dirty="0"/>
              <a:t>    Özgün Yöntem Başarısı:</a:t>
            </a:r>
            <a:r>
              <a:rPr lang="tr-TR" sz="2000" dirty="0"/>
              <a:t> </a:t>
            </a:r>
            <a:r>
              <a:rPr lang="tr-TR" sz="2000" dirty="0" err="1"/>
              <a:t>Bessel</a:t>
            </a:r>
            <a:r>
              <a:rPr lang="tr-TR" sz="2000" dirty="0"/>
              <a:t> fonksiyonu (daha dalgalı ve esnek) ile </a:t>
            </a:r>
            <a:r>
              <a:rPr lang="tr-TR" sz="2000" dirty="0" err="1"/>
              <a:t>Laplacian</a:t>
            </a:r>
            <a:r>
              <a:rPr lang="tr-TR" sz="2000" dirty="0"/>
              <a:t> fonksiyonunun (daha keskin, L</a:t>
            </a:r>
            <a:r>
              <a:rPr lang="tr-TR" sz="2000" dirty="0">
                <a:effectLst/>
              </a:rPr>
              <a:t>1</a:t>
            </a:r>
            <a:r>
              <a:rPr lang="tr-TR" sz="2000" dirty="0"/>
              <a:t>​ normuna dayalı) birleşimi, karar sınırlarının (</a:t>
            </a:r>
            <a:r>
              <a:rPr lang="tr-TR" sz="2000" dirty="0" err="1"/>
              <a:t>decision</a:t>
            </a:r>
            <a:r>
              <a:rPr lang="tr-TR" sz="2000" dirty="0"/>
              <a:t> </a:t>
            </a:r>
            <a:r>
              <a:rPr lang="tr-TR" sz="2000" dirty="0" err="1"/>
              <a:t>boundary</a:t>
            </a:r>
            <a:r>
              <a:rPr lang="tr-TR" sz="2000" dirty="0"/>
              <a:t>) daha esnek çizilmesini sağlamıştır. Bu hibrit yapı, hem birbirine çok yakın örnekleri (</a:t>
            </a:r>
            <a:r>
              <a:rPr lang="tr-TR" sz="2000" dirty="0" err="1"/>
              <a:t>Laplacian</a:t>
            </a:r>
            <a:r>
              <a:rPr lang="tr-TR" sz="2000" dirty="0"/>
              <a:t> etkisi) hem de daha uzak ilişkileri (</a:t>
            </a:r>
            <a:r>
              <a:rPr lang="tr-TR" sz="2000" dirty="0" err="1"/>
              <a:t>Bessel</a:t>
            </a:r>
            <a:r>
              <a:rPr lang="tr-TR" sz="2000" dirty="0"/>
              <a:t> etkisi) aynı anda modelleyerek sınıf ayrımını keskinleştirmiştir.</a:t>
            </a:r>
          </a:p>
        </p:txBody>
      </p:sp>
    </p:spTree>
    <p:extLst>
      <p:ext uri="{BB962C8B-B14F-4D97-AF65-F5344CB8AC3E}">
        <p14:creationId xmlns:p14="http://schemas.microsoft.com/office/powerpoint/2010/main" val="1793272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AB13FE9-400B-F82E-08B3-6B80FF387A8F}"/>
                  </a:ext>
                </a:extLst>
              </p:cNvPr>
              <p:cNvSpPr>
                <a:spLocks noChangeArrowheads="1"/>
              </p:cNvSpPr>
              <p:nvPr/>
            </p:nvSpPr>
            <p:spPr bwMode="auto">
              <a:xfrm>
                <a:off x="377804" y="570188"/>
                <a:ext cx="9182408" cy="443884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1" i="0" u="none" strike="noStrike" cap="none" normalizeH="0" baseline="0" dirty="0">
                    <a:ln>
                      <a:noFill/>
                    </a:ln>
                    <a:solidFill>
                      <a:schemeClr val="tx1"/>
                    </a:solidFill>
                    <a:effectLst/>
                    <a:latin typeface="Arial" panose="020B0604020202020204" pitchFamily="34" charset="0"/>
                  </a:rPr>
                  <a:t>Lojistik Regresyon ve ISRU (</a:t>
                </a:r>
                <a:r>
                  <a:rPr kumimoji="0" lang="tr-TR" altLang="tr-TR" sz="2000" b="1" i="0" u="none" strike="noStrike" cap="none" normalizeH="0" baseline="0" dirty="0" err="1">
                    <a:ln>
                      <a:noFill/>
                    </a:ln>
                    <a:solidFill>
                      <a:schemeClr val="tx1"/>
                    </a:solidFill>
                    <a:effectLst/>
                    <a:latin typeface="Arial" panose="020B0604020202020204" pitchFamily="34" charset="0"/>
                  </a:rPr>
                  <a:t>Inverse</a:t>
                </a:r>
                <a:r>
                  <a:rPr kumimoji="0" lang="tr-TR" altLang="tr-TR" sz="2000" b="1" i="0" u="none" strike="noStrike" cap="none" normalizeH="0" baseline="0" dirty="0">
                    <a:ln>
                      <a:noFill/>
                    </a:ln>
                    <a:solidFill>
                      <a:schemeClr val="tx1"/>
                    </a:solidFill>
                    <a:effectLst/>
                    <a:latin typeface="Arial" panose="020B0604020202020204" pitchFamily="34" charset="0"/>
                  </a:rPr>
                  <a:t> </a:t>
                </a:r>
                <a:r>
                  <a:rPr kumimoji="0" lang="tr-TR" altLang="tr-TR" sz="2000" b="1" i="0" u="none" strike="noStrike" cap="none" normalizeH="0" baseline="0" dirty="0" err="1">
                    <a:ln>
                      <a:noFill/>
                    </a:ln>
                    <a:solidFill>
                      <a:schemeClr val="tx1"/>
                    </a:solidFill>
                    <a:effectLst/>
                    <a:latin typeface="Arial" panose="020B0604020202020204" pitchFamily="34" charset="0"/>
                  </a:rPr>
                  <a:t>Square</a:t>
                </a:r>
                <a:r>
                  <a:rPr kumimoji="0" lang="tr-TR" altLang="tr-TR" sz="2000" b="1" i="0" u="none" strike="noStrike" cap="none" normalizeH="0" baseline="0" dirty="0">
                    <a:ln>
                      <a:noFill/>
                    </a:ln>
                    <a:solidFill>
                      <a:schemeClr val="tx1"/>
                    </a:solidFill>
                    <a:effectLst/>
                    <a:latin typeface="Arial" panose="020B0604020202020204" pitchFamily="34" charset="0"/>
                  </a:rPr>
                  <a:t> </a:t>
                </a:r>
                <a:r>
                  <a:rPr kumimoji="0" lang="tr-TR" altLang="tr-TR" sz="2000" b="1" i="0" u="none" strike="noStrike" cap="none" normalizeH="0" baseline="0" dirty="0" err="1">
                    <a:ln>
                      <a:noFill/>
                    </a:ln>
                    <a:solidFill>
                      <a:schemeClr val="tx1"/>
                    </a:solidFill>
                    <a:effectLst/>
                    <a:latin typeface="Arial" panose="020B0604020202020204" pitchFamily="34" charset="0"/>
                  </a:rPr>
                  <a:t>Root</a:t>
                </a:r>
                <a:r>
                  <a:rPr kumimoji="0" lang="tr-TR" altLang="tr-TR" sz="2000" b="1" i="0" u="none" strike="noStrike" cap="none" normalizeH="0" baseline="0" dirty="0">
                    <a:ln>
                      <a:noFill/>
                    </a:ln>
                    <a:solidFill>
                      <a:schemeClr val="tx1"/>
                    </a:solidFill>
                    <a:effectLst/>
                    <a:latin typeface="Arial" panose="020B0604020202020204" pitchFamily="34" charset="0"/>
                  </a:rPr>
                  <a:t> </a:t>
                </a:r>
                <a:r>
                  <a:rPr kumimoji="0" lang="tr-TR" altLang="tr-TR" sz="2000" b="1" i="0" u="none" strike="noStrike" cap="none" normalizeH="0" baseline="0" dirty="0" err="1">
                    <a:ln>
                      <a:noFill/>
                    </a:ln>
                    <a:solidFill>
                      <a:schemeClr val="tx1"/>
                    </a:solidFill>
                    <a:effectLst/>
                    <a:latin typeface="Arial" panose="020B0604020202020204" pitchFamily="34" charset="0"/>
                  </a:rPr>
                  <a:t>Unit</a:t>
                </a:r>
                <a:r>
                  <a:rPr kumimoji="0" lang="tr-TR" altLang="tr-TR" sz="2000" b="1" i="0" u="none" strike="noStrike" cap="none" normalizeH="0" baseline="0" dirty="0">
                    <a:ln>
                      <a:noFill/>
                    </a:ln>
                    <a:solidFill>
                      <a:schemeClr val="tx1"/>
                    </a:solidFill>
                    <a:effectLst/>
                    <a:latin typeface="Arial" panose="020B0604020202020204" pitchFamily="34" charset="0"/>
                  </a:rPr>
                  <a:t>) Aktivasyonu:</a:t>
                </a:r>
              </a:p>
              <a:p>
                <a:pPr marL="0" marR="0" lvl="0" indent="0" algn="l" defTabSz="914400" rtl="0" eaLnBrk="0" fontAlgn="base" latinLnBrk="0" hangingPunct="0">
                  <a:lnSpc>
                    <a:spcPct val="100000"/>
                  </a:lnSpc>
                  <a:spcBef>
                    <a:spcPct val="0"/>
                  </a:spcBef>
                  <a:spcAft>
                    <a:spcPct val="0"/>
                  </a:spcAft>
                  <a:buClrTx/>
                  <a:buSzTx/>
                  <a:buFontTx/>
                  <a:buNone/>
                  <a:tabLst/>
                </a:pPr>
                <a:endParaRPr lang="tr-TR" altLang="tr-TR" sz="2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000" b="1" i="0" u="none" strike="noStrike" cap="none" normalizeH="0" baseline="0" dirty="0">
                    <a:ln>
                      <a:noFill/>
                    </a:ln>
                    <a:solidFill>
                      <a:schemeClr val="tx1"/>
                    </a:solidFill>
                    <a:effectLst/>
                    <a:latin typeface="Arial" panose="020B0604020202020204" pitchFamily="34" charset="0"/>
                  </a:rPr>
                  <a:t>     Standart Yöntem Kısıtı:</a:t>
                </a:r>
                <a:r>
                  <a:rPr kumimoji="0" lang="tr-TR" altLang="tr-TR" sz="2000" b="0" i="0" u="none" strike="noStrike" cap="none" normalizeH="0" baseline="0" dirty="0">
                    <a:ln>
                      <a:noFill/>
                    </a:ln>
                    <a:solidFill>
                      <a:schemeClr val="tx1"/>
                    </a:solidFill>
                    <a:effectLst/>
                    <a:latin typeface="Arial" panose="020B0604020202020204" pitchFamily="34" charset="0"/>
                  </a:rPr>
                  <a:t> Standart Sigmoid fonksiyonu, girdileri (0, 1) aralığına sıkıştırırken uçlarda çok hızlı doyuma ulaşır (</a:t>
                </a:r>
                <a:r>
                  <a:rPr kumimoji="0" lang="tr-TR" altLang="tr-TR" sz="2000" b="0" i="0" u="none" strike="noStrike" cap="none" normalizeH="0" baseline="0" dirty="0" err="1">
                    <a:ln>
                      <a:noFill/>
                    </a:ln>
                    <a:solidFill>
                      <a:schemeClr val="tx1"/>
                    </a:solidFill>
                    <a:effectLst/>
                    <a:latin typeface="Arial" panose="020B0604020202020204" pitchFamily="34" charset="0"/>
                  </a:rPr>
                  <a:t>vanishing</a:t>
                </a:r>
                <a:r>
                  <a:rPr kumimoji="0" lang="tr-TR" altLang="tr-TR" sz="2000" b="0" i="0" u="none" strike="noStrike" cap="none" normalizeH="0" baseline="0" dirty="0">
                    <a:ln>
                      <a:noFill/>
                    </a:ln>
                    <a:solidFill>
                      <a:schemeClr val="tx1"/>
                    </a:solidFill>
                    <a:effectLst/>
                    <a:latin typeface="Arial" panose="020B0604020202020204" pitchFamily="34" charset="0"/>
                  </a:rPr>
                  <a:t> </a:t>
                </a:r>
                <a:r>
                  <a:rPr kumimoji="0" lang="tr-TR" altLang="tr-TR" sz="2000" b="0" i="0" u="none" strike="noStrike" cap="none" normalizeH="0" baseline="0" dirty="0" err="1">
                    <a:ln>
                      <a:noFill/>
                    </a:ln>
                    <a:solidFill>
                      <a:schemeClr val="tx1"/>
                    </a:solidFill>
                    <a:effectLst/>
                    <a:latin typeface="Arial" panose="020B0604020202020204" pitchFamily="34" charset="0"/>
                  </a:rPr>
                  <a:t>gradient</a:t>
                </a:r>
                <a:r>
                  <a:rPr kumimoji="0" lang="tr-TR" altLang="tr-TR" sz="2000" b="0" i="0" u="none" strike="noStrike" cap="none" normalizeH="0" baseline="0" dirty="0">
                    <a:ln>
                      <a:noFill/>
                    </a:ln>
                    <a:solidFill>
                      <a:schemeClr val="tx1"/>
                    </a:solidFill>
                    <a:effectLst/>
                    <a:latin typeface="Arial" panose="020B0604020202020204" pitchFamily="34" charset="0"/>
                  </a:rPr>
                  <a:t> problemi riski) ve simetrik bir yapıdadır.</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2000" b="1" i="0" u="none" strike="noStrike" cap="none" normalizeH="0" baseline="0" dirty="0">
                    <a:ln>
                      <a:noFill/>
                    </a:ln>
                    <a:solidFill>
                      <a:schemeClr val="tx1"/>
                    </a:solidFill>
                    <a:effectLst/>
                    <a:latin typeface="Arial" panose="020B0604020202020204" pitchFamily="34" charset="0"/>
                  </a:rPr>
                  <a:t>    Özgün Yöntem Başarısı:</a:t>
                </a:r>
                <a:r>
                  <a:rPr kumimoji="0" lang="tr-TR" altLang="tr-TR" sz="2000" b="0" i="0" u="none" strike="noStrike" cap="none" normalizeH="0" baseline="0" dirty="0">
                    <a:ln>
                      <a:noFill/>
                    </a:ln>
                    <a:solidFill>
                      <a:schemeClr val="tx1"/>
                    </a:solidFill>
                    <a:effectLst/>
                    <a:latin typeface="Arial" panose="020B0604020202020204" pitchFamily="34" charset="0"/>
                  </a:rPr>
                  <a:t> ISRU fonksiyonu (</a:t>
                </a:r>
                <a14:m>
                  <m:oMath xmlns:m="http://schemas.openxmlformats.org/officeDocument/2006/math">
                    <m:r>
                      <a:rPr kumimoji="0" lang="tr-TR" altLang="tr-TR" sz="2000" b="0" i="1" u="none" strike="noStrike" cap="none" normalizeH="0" baseline="0" smtClean="0">
                        <a:ln>
                          <a:noFill/>
                        </a:ln>
                        <a:solidFill>
                          <a:schemeClr val="tx1"/>
                        </a:solidFill>
                        <a:effectLst/>
                        <a:latin typeface="Cambria Math" panose="02040503050406030204" pitchFamily="18" charset="0"/>
                      </a:rPr>
                      <m:t>𝑥</m:t>
                    </m:r>
                    <m:r>
                      <a:rPr kumimoji="0" lang="tr-TR" altLang="tr-TR" sz="2000" b="0" i="1" u="none" strike="noStrike" cap="none" normalizeH="0" baseline="0" smtClean="0">
                        <a:ln>
                          <a:noFill/>
                        </a:ln>
                        <a:solidFill>
                          <a:schemeClr val="tx1"/>
                        </a:solidFill>
                        <a:effectLst/>
                        <a:latin typeface="Cambria Math" panose="02040503050406030204" pitchFamily="18" charset="0"/>
                      </a:rPr>
                      <m:t>/</m:t>
                    </m:r>
                    <m:rad>
                      <m:radPr>
                        <m:degHide m:val="on"/>
                        <m:ctrlPr>
                          <a:rPr kumimoji="0" lang="tr-TR" altLang="tr-TR" sz="2000" b="0" i="1" u="none" strike="noStrike" cap="none" normalizeH="0" baseline="0" smtClean="0">
                            <a:ln>
                              <a:noFill/>
                            </a:ln>
                            <a:solidFill>
                              <a:schemeClr val="tx1"/>
                            </a:solidFill>
                            <a:effectLst/>
                            <a:latin typeface="Cambria Math" panose="02040503050406030204" pitchFamily="18" charset="0"/>
                          </a:rPr>
                        </m:ctrlPr>
                      </m:radPr>
                      <m:deg/>
                      <m:e>
                        <m:r>
                          <a:rPr kumimoji="0" lang="tr-TR" altLang="tr-TR" sz="2000" b="0" i="1" u="none" strike="noStrike" cap="none" normalizeH="0" baseline="0" smtClean="0">
                            <a:ln>
                              <a:noFill/>
                            </a:ln>
                            <a:solidFill>
                              <a:schemeClr val="tx1"/>
                            </a:solidFill>
                            <a:effectLst/>
                            <a:latin typeface="Cambria Math" panose="02040503050406030204" pitchFamily="18" charset="0"/>
                          </a:rPr>
                          <m:t>1+</m:t>
                        </m:r>
                        <m:r>
                          <a:rPr kumimoji="0" lang="tr-TR" altLang="tr-TR" sz="2000" b="0" i="1" u="none" strike="noStrike" cap="none" normalizeH="0" baseline="0" smtClean="0">
                            <a:ln>
                              <a:noFill/>
                            </a:ln>
                            <a:solidFill>
                              <a:schemeClr val="tx1"/>
                            </a:solidFill>
                            <a:effectLst/>
                            <a:latin typeface="Cambria Math" panose="02040503050406030204" pitchFamily="18" charset="0"/>
                          </a:rPr>
                          <m:t>𝑎</m:t>
                        </m:r>
                        <m:sSup>
                          <m:sSupPr>
                            <m:ctrlPr>
                              <a:rPr kumimoji="0" lang="tr-TR" altLang="tr-TR" sz="2000" b="0" i="1" u="none" strike="noStrike" cap="none" normalizeH="0" baseline="0" smtClean="0">
                                <a:ln>
                                  <a:noFill/>
                                </a:ln>
                                <a:solidFill>
                                  <a:schemeClr val="tx1"/>
                                </a:solidFill>
                                <a:effectLst/>
                                <a:latin typeface="Cambria Math" panose="02040503050406030204" pitchFamily="18" charset="0"/>
                              </a:rPr>
                            </m:ctrlPr>
                          </m:sSupPr>
                          <m:e>
                            <m:r>
                              <a:rPr kumimoji="0" lang="tr-TR" altLang="tr-TR" sz="2000" b="0" i="1" u="none" strike="noStrike" cap="none" normalizeH="0" baseline="0" smtClean="0">
                                <a:ln>
                                  <a:noFill/>
                                </a:ln>
                                <a:solidFill>
                                  <a:schemeClr val="tx1"/>
                                </a:solidFill>
                                <a:effectLst/>
                                <a:latin typeface="Cambria Math" panose="02040503050406030204" pitchFamily="18" charset="0"/>
                              </a:rPr>
                              <m:t>𝑥</m:t>
                            </m:r>
                          </m:e>
                          <m:sup>
                            <m:r>
                              <a:rPr kumimoji="0" lang="tr-TR" altLang="tr-TR" sz="2000" b="0" i="1" u="none" strike="noStrike" cap="none" normalizeH="0" baseline="0" smtClean="0">
                                <a:ln>
                                  <a:noFill/>
                                </a:ln>
                                <a:solidFill>
                                  <a:schemeClr val="tx1"/>
                                </a:solidFill>
                                <a:effectLst/>
                                <a:latin typeface="Cambria Math" panose="02040503050406030204" pitchFamily="18" charset="0"/>
                              </a:rPr>
                              <m:t>2</m:t>
                            </m:r>
                          </m:sup>
                        </m:sSup>
                      </m:e>
                    </m:rad>
                  </m:oMath>
                </a14:m>
                <a:r>
                  <a:rPr kumimoji="0" lang="tr-TR" altLang="tr-TR" sz="2000" b="0" i="0" u="none" strike="noStrike" cap="none" normalizeH="0" baseline="0" dirty="0">
                    <a:ln>
                      <a:noFill/>
                    </a:ln>
                    <a:solidFill>
                      <a:schemeClr val="tx1"/>
                    </a:solidFill>
                    <a:effectLst/>
                    <a:latin typeface="Arial" panose="020B0604020202020204" pitchFamily="34" charset="0"/>
                  </a:rPr>
                  <a:t>),</a:t>
                </a:r>
                <a:r>
                  <a:rPr kumimoji="0" lang="tr-TR" altLang="tr-TR" sz="2000" b="0" i="0" u="none" strike="noStrike" cap="none" normalizeH="0" baseline="0" dirty="0" err="1">
                    <a:ln>
                      <a:noFill/>
                    </a:ln>
                    <a:solidFill>
                      <a:schemeClr val="tx1"/>
                    </a:solidFill>
                    <a:effectLst/>
                    <a:latin typeface="Arial" panose="020B0604020202020204" pitchFamily="34" charset="0"/>
                  </a:rPr>
                  <a:t>Sigmoid'e</a:t>
                </a:r>
                <a:r>
                  <a:rPr kumimoji="0" lang="tr-TR" altLang="tr-TR" sz="2000" b="0" i="0" u="none" strike="noStrike" cap="none" normalizeH="0" baseline="0" dirty="0">
                    <a:ln>
                      <a:noFill/>
                    </a:ln>
                    <a:solidFill>
                      <a:schemeClr val="tx1"/>
                    </a:solidFill>
                    <a:effectLst/>
                    <a:latin typeface="Arial" panose="020B0604020202020204" pitchFamily="34" charset="0"/>
                  </a:rPr>
                  <a:t> göre daha yumuşak bir eğime sahiptir ve cebirsel bir dönüşümdür. Bu yapı, özellik uzayındaki geçiş bölgelerinde (kararsız hastalar) modelin daha hassas olasılık tahminleri yapmasına olanak tanımış, böylece yanlış sınıflandırma riskini azaltmıştır.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2000" b="0" i="0" u="none" strike="noStrike" cap="none" normalizeH="0" baseline="0" dirty="0">
                  <a:ln>
                    <a:noFill/>
                  </a:ln>
                  <a:solidFill>
                    <a:schemeClr val="tx1"/>
                  </a:solidFill>
                  <a:effectLst/>
                  <a:latin typeface="Arial" panose="020B0604020202020204" pitchFamily="34" charset="0"/>
                </a:endParaRPr>
              </a:p>
            </p:txBody>
          </p:sp>
        </mc:Choice>
        <mc:Fallback>
          <p:sp>
            <p:nvSpPr>
              <p:cNvPr id="4" name="Rectangle 3">
                <a:extLst>
                  <a:ext uri="{FF2B5EF4-FFF2-40B4-BE49-F238E27FC236}">
                    <a16:creationId xmlns:a16="http://schemas.microsoft.com/office/drawing/2014/main" id="{FAB13FE9-400B-F82E-08B3-6B80FF387A8F}"/>
                  </a:ext>
                </a:extLst>
              </p:cNvPr>
              <p:cNvSpPr>
                <a:spLocks noRot="1" noChangeAspect="1" noMove="1" noResize="1" noEditPoints="1" noAdjustHandles="1" noChangeArrowheads="1" noChangeShapeType="1" noTextEdit="1"/>
              </p:cNvSpPr>
              <p:nvPr/>
            </p:nvSpPr>
            <p:spPr bwMode="auto">
              <a:xfrm>
                <a:off x="377804" y="570188"/>
                <a:ext cx="9182408" cy="4438844"/>
              </a:xfrm>
              <a:prstGeom prst="rect">
                <a:avLst/>
              </a:prstGeom>
              <a:blipFill>
                <a:blip r:embed="rId2"/>
                <a:stretch>
                  <a:fillRect l="-730" t="-13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tr-TR">
                    <a:noFill/>
                  </a:rPr>
                  <a:t> </a:t>
                </a:r>
              </a:p>
            </p:txBody>
          </p:sp>
        </mc:Fallback>
      </mc:AlternateContent>
      <p:sp>
        <p:nvSpPr>
          <p:cNvPr id="5" name="AutoShape 4">
            <a:extLst>
              <a:ext uri="{FF2B5EF4-FFF2-40B4-BE49-F238E27FC236}">
                <a16:creationId xmlns:a16="http://schemas.microsoft.com/office/drawing/2014/main" id="{BD58EA8A-75B5-65EA-DAD5-03293666C6DF}"/>
              </a:ext>
            </a:extLst>
          </p:cNvPr>
          <p:cNvSpPr>
            <a:spLocks noChangeAspect="1" noChangeArrowheads="1"/>
          </p:cNvSpPr>
          <p:nvPr/>
        </p:nvSpPr>
        <p:spPr bwMode="auto">
          <a:xfrm>
            <a:off x="5648259" y="1049287"/>
            <a:ext cx="1536879" cy="22488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Tree>
    <p:extLst>
      <p:ext uri="{BB962C8B-B14F-4D97-AF65-F5344CB8AC3E}">
        <p14:creationId xmlns:p14="http://schemas.microsoft.com/office/powerpoint/2010/main" val="2628072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68F25334-BF75-97F1-F32A-CB469FFEF1D8}"/>
              </a:ext>
            </a:extLst>
          </p:cNvPr>
          <p:cNvSpPr txBox="1"/>
          <p:nvPr/>
        </p:nvSpPr>
        <p:spPr>
          <a:xfrm>
            <a:off x="215987" y="275687"/>
            <a:ext cx="10056823" cy="5016758"/>
          </a:xfrm>
          <a:prstGeom prst="rect">
            <a:avLst/>
          </a:prstGeom>
          <a:noFill/>
        </p:spPr>
        <p:txBody>
          <a:bodyPr wrap="square">
            <a:spAutoFit/>
          </a:bodyPr>
          <a:lstStyle/>
          <a:p>
            <a:r>
              <a:rPr lang="tr-TR" sz="2000" b="1" dirty="0"/>
              <a:t>Standart Algoritmaların (RF, DT) Başarı Nedenleri</a:t>
            </a:r>
          </a:p>
          <a:p>
            <a:endParaRPr lang="tr-TR" sz="2000" b="1" dirty="0"/>
          </a:p>
          <a:p>
            <a:r>
              <a:rPr lang="tr-TR" sz="2000" dirty="0"/>
              <a:t>Karar Ağacı ve Rastgele Orman algoritmalarında standart versiyonların, geliştirdiğimiz özgün versiyonlardan (</a:t>
            </a:r>
            <a:r>
              <a:rPr lang="tr-TR" sz="2000" dirty="0" err="1"/>
              <a:t>Hellinger</a:t>
            </a:r>
            <a:r>
              <a:rPr lang="tr-TR" sz="2000" dirty="0"/>
              <a:t> DT ve Dinamik Seçimli RF) daha başarılı olmasının nedenleri </a:t>
            </a:r>
            <a:r>
              <a:rPr lang="tr-TR" sz="2000" b="1" dirty="0"/>
              <a:t>veri boyutu</a:t>
            </a:r>
            <a:r>
              <a:rPr lang="tr-TR" sz="2000" dirty="0"/>
              <a:t> ve </a:t>
            </a:r>
            <a:r>
              <a:rPr lang="tr-TR" sz="2000" b="1" dirty="0"/>
              <a:t>model karmaşıklığı</a:t>
            </a:r>
            <a:r>
              <a:rPr lang="tr-TR" sz="2000" dirty="0"/>
              <a:t> (</a:t>
            </a:r>
            <a:r>
              <a:rPr lang="tr-TR" sz="2000" dirty="0" err="1"/>
              <a:t>bias-variance</a:t>
            </a:r>
            <a:r>
              <a:rPr lang="tr-TR" sz="2000" dirty="0"/>
              <a:t> </a:t>
            </a:r>
            <a:r>
              <a:rPr lang="tr-TR" sz="2000" dirty="0" err="1"/>
              <a:t>trade-off</a:t>
            </a:r>
            <a:r>
              <a:rPr lang="tr-TR" sz="2000" dirty="0"/>
              <a:t>) ile ilişkilidir:</a:t>
            </a:r>
          </a:p>
          <a:p>
            <a:endParaRPr lang="tr-TR" sz="2000" dirty="0"/>
          </a:p>
          <a:p>
            <a:r>
              <a:rPr lang="tr-TR" sz="2000" b="1" dirty="0"/>
              <a:t>Rastgele Orman: Standart vs. Dinamik Seçim (</a:t>
            </a:r>
            <a:r>
              <a:rPr lang="tr-TR" sz="2000" b="1" dirty="0" err="1"/>
              <a:t>Dynamic</a:t>
            </a:r>
            <a:r>
              <a:rPr lang="tr-TR" sz="2000" b="1" dirty="0"/>
              <a:t> </a:t>
            </a:r>
            <a:r>
              <a:rPr lang="tr-TR" sz="2000" b="1" dirty="0" err="1"/>
              <a:t>Selection</a:t>
            </a:r>
            <a:r>
              <a:rPr lang="tr-TR" sz="2000" b="1" dirty="0"/>
              <a:t>)</a:t>
            </a:r>
            <a:endParaRPr lang="tr-TR" sz="2000" dirty="0"/>
          </a:p>
          <a:p>
            <a:pPr marL="342900" indent="-342900">
              <a:buFont typeface="Arial" panose="020B0604020202020204" pitchFamily="34" charset="0"/>
              <a:buChar char="•"/>
            </a:pPr>
            <a:r>
              <a:rPr lang="tr-TR" sz="2000" b="1" dirty="0"/>
              <a:t>Başarısızlık Nedeni (Veri Yetersizliği):</a:t>
            </a:r>
            <a:r>
              <a:rPr lang="tr-TR" sz="2000" dirty="0"/>
              <a:t> Dinamik Ağaç Seçimi (DTS) yöntemi, her test örneği için lokal bölgedeki (komşuluktaki) en yetkin ağaçları seçmeye çalışır. Ancak bu "yetkinlik tahmini" (</a:t>
            </a:r>
            <a:r>
              <a:rPr lang="tr-TR" sz="2000" dirty="0" err="1"/>
              <a:t>competence</a:t>
            </a:r>
            <a:r>
              <a:rPr lang="tr-TR" sz="2000" dirty="0"/>
              <a:t> </a:t>
            </a:r>
            <a:r>
              <a:rPr lang="tr-TR" sz="2000" dirty="0" err="1"/>
              <a:t>estimation</a:t>
            </a:r>
            <a:r>
              <a:rPr lang="tr-TR" sz="2000" dirty="0"/>
              <a:t>) için ayrılan validasyon veri seti (Cleveland veri setinde yaklaşık 60-70 örnek), istatistiksel olarak güvenilir bir çıkarım yapmak için </a:t>
            </a:r>
            <a:r>
              <a:rPr lang="tr-TR" sz="2000" b="1" dirty="0"/>
              <a:t>yetersiz kalmıştır</a:t>
            </a:r>
            <a:r>
              <a:rPr lang="tr-TR" sz="2000" dirty="0"/>
              <a:t>.</a:t>
            </a:r>
          </a:p>
          <a:p>
            <a:pPr marL="800100" lvl="1"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b="1" dirty="0"/>
              <a:t>Standart Başarısı:</a:t>
            </a:r>
            <a:r>
              <a:rPr lang="tr-TR" sz="2000" dirty="0"/>
              <a:t> Standart Rastgele Orman, "</a:t>
            </a:r>
            <a:r>
              <a:rPr lang="tr-TR" sz="2000" dirty="0" err="1"/>
              <a:t>Bagging</a:t>
            </a:r>
            <a:r>
              <a:rPr lang="tr-TR" sz="2000" dirty="0"/>
              <a:t>" (</a:t>
            </a:r>
            <a:r>
              <a:rPr lang="tr-TR" sz="2000" dirty="0" err="1"/>
              <a:t>Bootstrap</a:t>
            </a:r>
            <a:r>
              <a:rPr lang="tr-TR" sz="2000" dirty="0"/>
              <a:t> </a:t>
            </a:r>
            <a:r>
              <a:rPr lang="tr-TR" sz="2000" dirty="0" err="1"/>
              <a:t>Aggregating</a:t>
            </a:r>
            <a:r>
              <a:rPr lang="tr-TR" sz="2000" dirty="0"/>
              <a:t>) prensibiyle çalışır ve tüm ağaçların ortalamasını alır. Bu basit yaklaşım, varyansı (varyans hatasını) düşürmede çok etkilidir. Veri az olduğunda, karmaşık seçim mekanizmaları yerine tüm topluluğun (</a:t>
            </a:r>
            <a:r>
              <a:rPr lang="tr-TR" sz="2000" dirty="0" err="1"/>
              <a:t>ensemble</a:t>
            </a:r>
            <a:r>
              <a:rPr lang="tr-TR" sz="2000" dirty="0"/>
              <a:t>) gücünü kullanmak daha gürbüz (</a:t>
            </a:r>
            <a:r>
              <a:rPr lang="tr-TR" sz="2000" dirty="0" err="1"/>
              <a:t>robust</a:t>
            </a:r>
            <a:r>
              <a:rPr lang="tr-TR" sz="2000" dirty="0"/>
              <a:t>) sonuç verir.</a:t>
            </a:r>
          </a:p>
        </p:txBody>
      </p:sp>
    </p:spTree>
    <p:extLst>
      <p:ext uri="{BB962C8B-B14F-4D97-AF65-F5344CB8AC3E}">
        <p14:creationId xmlns:p14="http://schemas.microsoft.com/office/powerpoint/2010/main" val="4034456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B9C96FEA-93C1-F59B-8BD0-04A18C5FEB6F}"/>
              </a:ext>
            </a:extLst>
          </p:cNvPr>
          <p:cNvSpPr txBox="1"/>
          <p:nvPr/>
        </p:nvSpPr>
        <p:spPr>
          <a:xfrm>
            <a:off x="510802" y="309005"/>
            <a:ext cx="10588121" cy="3785652"/>
          </a:xfrm>
          <a:prstGeom prst="rect">
            <a:avLst/>
          </a:prstGeom>
          <a:noFill/>
        </p:spPr>
        <p:txBody>
          <a:bodyPr wrap="square">
            <a:spAutoFit/>
          </a:bodyPr>
          <a:lstStyle/>
          <a:p>
            <a:pPr>
              <a:buNone/>
            </a:pPr>
            <a:r>
              <a:rPr lang="tr-TR" sz="2000" b="1" dirty="0"/>
              <a:t>Karar Ağacı: Standart (</a:t>
            </a:r>
            <a:r>
              <a:rPr lang="tr-TR" sz="2000" b="1" dirty="0" err="1"/>
              <a:t>Gini</a:t>
            </a:r>
            <a:r>
              <a:rPr lang="tr-TR" sz="2000" b="1" dirty="0"/>
              <a:t>) vs. </a:t>
            </a:r>
            <a:r>
              <a:rPr lang="tr-TR" sz="2000" b="1" dirty="0" err="1"/>
              <a:t>Hellinger</a:t>
            </a:r>
            <a:r>
              <a:rPr lang="tr-TR" sz="2000" b="1" dirty="0"/>
              <a:t> Uzaklığı</a:t>
            </a:r>
          </a:p>
          <a:p>
            <a:pPr>
              <a:buNone/>
            </a:pPr>
            <a:endParaRPr lang="tr-TR" sz="2000" dirty="0"/>
          </a:p>
          <a:p>
            <a:pPr>
              <a:buFont typeface="Arial" panose="020B0604020202020204" pitchFamily="34" charset="0"/>
              <a:buChar char="•"/>
            </a:pPr>
            <a:r>
              <a:rPr lang="tr-TR" sz="2000" b="1" dirty="0"/>
              <a:t>    Başarısızlık Nedeni (Dengesizlik Yanılgısı):</a:t>
            </a:r>
            <a:r>
              <a:rPr lang="tr-TR" sz="2000" dirty="0"/>
              <a:t> </a:t>
            </a:r>
            <a:r>
              <a:rPr lang="tr-TR" sz="2000" dirty="0" err="1"/>
              <a:t>Hellinger</a:t>
            </a:r>
            <a:r>
              <a:rPr lang="tr-TR" sz="2000" dirty="0"/>
              <a:t> Uzaklığı, özellikle </a:t>
            </a:r>
            <a:r>
              <a:rPr lang="tr-TR" sz="2000" b="1" dirty="0"/>
              <a:t>aşırı dengesiz (</a:t>
            </a:r>
            <a:r>
              <a:rPr lang="tr-TR" sz="2000" b="1" dirty="0" err="1"/>
              <a:t>imbalanced</a:t>
            </a:r>
            <a:r>
              <a:rPr lang="tr-TR" sz="2000" b="1" dirty="0"/>
              <a:t>)</a:t>
            </a:r>
            <a:r>
              <a:rPr lang="tr-TR" sz="2000" dirty="0"/>
              <a:t> veri setlerinde (</a:t>
            </a:r>
            <a:r>
              <a:rPr lang="tr-TR" sz="2000" dirty="0" err="1"/>
              <a:t>örn</a:t>
            </a:r>
            <a:r>
              <a:rPr lang="tr-TR" sz="2000" dirty="0"/>
              <a:t>. %99 Sağlıklı, %1 Hasta) sınıf dağılımlarını ayırmada </a:t>
            </a:r>
            <a:r>
              <a:rPr lang="tr-TR" sz="2000" dirty="0" err="1"/>
              <a:t>Gini</a:t>
            </a:r>
            <a:r>
              <a:rPr lang="tr-TR" sz="2000" dirty="0"/>
              <a:t> indeksine göre daha üstündür. Ancak kullandığımız veri seti (Cleveland), neredeyse dengeli bir dağılıma (%54-%46) sahiptir.</a:t>
            </a:r>
          </a:p>
          <a:p>
            <a:pPr marL="342900" indent="-342900">
              <a:buFont typeface="Arial" panose="020B0604020202020204" pitchFamily="34" charset="0"/>
              <a:buChar char="•"/>
            </a:pPr>
            <a:endParaRPr lang="tr-TR" sz="2000" dirty="0"/>
          </a:p>
          <a:p>
            <a:pPr>
              <a:buFont typeface="Arial" panose="020B0604020202020204" pitchFamily="34" charset="0"/>
              <a:buChar char="•"/>
            </a:pPr>
            <a:r>
              <a:rPr lang="tr-TR" sz="2000" b="1" dirty="0"/>
              <a:t>    Standart Başarısı:</a:t>
            </a:r>
            <a:r>
              <a:rPr lang="tr-TR" sz="2000" dirty="0"/>
              <a:t> Dengeli veri setlerinde standart </a:t>
            </a:r>
            <a:r>
              <a:rPr lang="tr-TR" sz="2000" b="1" dirty="0" err="1"/>
              <a:t>Gini</a:t>
            </a:r>
            <a:r>
              <a:rPr lang="tr-TR" sz="2000" b="1" dirty="0"/>
              <a:t> </a:t>
            </a:r>
            <a:r>
              <a:rPr lang="tr-TR" sz="2000" b="1" dirty="0" err="1"/>
              <a:t>İmpurity</a:t>
            </a:r>
            <a:r>
              <a:rPr lang="tr-TR" sz="2000" dirty="0"/>
              <a:t> veya </a:t>
            </a:r>
            <a:r>
              <a:rPr lang="tr-TR" sz="2000" b="1" dirty="0"/>
              <a:t>Entropi</a:t>
            </a:r>
            <a:r>
              <a:rPr lang="tr-TR" sz="2000" dirty="0"/>
              <a:t> kriterleri, sınıf ayrımını optimize etmede matematiksel olarak zaten çok verimlidir. </a:t>
            </a:r>
            <a:r>
              <a:rPr lang="tr-TR" sz="2000" dirty="0" err="1"/>
              <a:t>Hellinger</a:t>
            </a:r>
            <a:r>
              <a:rPr lang="tr-TR" sz="2000" dirty="0"/>
              <a:t> metriği, bu veri setinde gereksiz bir hesaplama karmaşıklığı yaratmış ve muhtemelen ağacın dallanma yapısında aşırı öğrenmeye (</a:t>
            </a:r>
            <a:r>
              <a:rPr lang="tr-TR" sz="2000" dirty="0" err="1"/>
              <a:t>overfitting</a:t>
            </a:r>
            <a:r>
              <a:rPr lang="tr-TR" sz="2000" dirty="0"/>
              <a:t>) veya yetersiz ayrıma (</a:t>
            </a:r>
            <a:r>
              <a:rPr lang="tr-TR" sz="2000" dirty="0" err="1"/>
              <a:t>underfitting</a:t>
            </a:r>
            <a:r>
              <a:rPr lang="tr-TR" sz="2000" dirty="0"/>
              <a:t>) yol açarak standart </a:t>
            </a:r>
            <a:r>
              <a:rPr lang="tr-TR" sz="2000" dirty="0" err="1"/>
              <a:t>Gini</a:t>
            </a:r>
            <a:r>
              <a:rPr lang="tr-TR" sz="2000" dirty="0"/>
              <a:t> kriterinin gerisinde kalmıştır.</a:t>
            </a:r>
          </a:p>
        </p:txBody>
      </p:sp>
    </p:spTree>
    <p:extLst>
      <p:ext uri="{BB962C8B-B14F-4D97-AF65-F5344CB8AC3E}">
        <p14:creationId xmlns:p14="http://schemas.microsoft.com/office/powerpoint/2010/main" val="1565661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F5F897B2-7570-B5AF-5D44-77C837E77814}"/>
              </a:ext>
            </a:extLst>
          </p:cNvPr>
          <p:cNvSpPr txBox="1"/>
          <p:nvPr/>
        </p:nvSpPr>
        <p:spPr>
          <a:xfrm>
            <a:off x="409903" y="624314"/>
            <a:ext cx="8732520" cy="3785652"/>
          </a:xfrm>
          <a:prstGeom prst="rect">
            <a:avLst/>
          </a:prstGeom>
          <a:noFill/>
        </p:spPr>
        <p:txBody>
          <a:bodyPr wrap="square">
            <a:spAutoFit/>
          </a:bodyPr>
          <a:lstStyle/>
          <a:p>
            <a:pPr>
              <a:buNone/>
            </a:pPr>
            <a:r>
              <a:rPr lang="tr-TR" sz="2000" b="1" dirty="0"/>
              <a:t>Genel Sonuç</a:t>
            </a:r>
          </a:p>
          <a:p>
            <a:pPr>
              <a:buNone/>
            </a:pPr>
            <a:endParaRPr lang="tr-TR" sz="2000" b="1" dirty="0"/>
          </a:p>
          <a:p>
            <a:pPr>
              <a:buNone/>
            </a:pPr>
            <a:r>
              <a:rPr lang="tr-TR" sz="2000" dirty="0"/>
              <a:t>Bu bulgular, yapay zekada </a:t>
            </a:r>
            <a:r>
              <a:rPr lang="tr-TR" sz="2000" b="1" dirty="0"/>
              <a:t>"Her derde deva tek bir algoritma yoktur" </a:t>
            </a:r>
            <a:r>
              <a:rPr lang="tr-TR" sz="2000" dirty="0"/>
              <a:t>(No </a:t>
            </a:r>
            <a:r>
              <a:rPr lang="tr-TR" sz="2000" dirty="0" err="1"/>
              <a:t>Free</a:t>
            </a:r>
            <a:r>
              <a:rPr lang="tr-TR" sz="2000" dirty="0"/>
              <a:t> </a:t>
            </a:r>
            <a:r>
              <a:rPr lang="tr-TR" sz="2000" dirty="0" err="1"/>
              <a:t>Lunch</a:t>
            </a:r>
            <a:r>
              <a:rPr lang="tr-TR" sz="2000" dirty="0"/>
              <a:t> </a:t>
            </a:r>
            <a:r>
              <a:rPr lang="tr-TR" sz="2000" dirty="0" err="1"/>
              <a:t>Theorem</a:t>
            </a:r>
            <a:r>
              <a:rPr lang="tr-TR" sz="2000" dirty="0"/>
              <a:t>) ilkesini doğrulamaktadır.</a:t>
            </a:r>
          </a:p>
          <a:p>
            <a:pPr>
              <a:buNone/>
            </a:pPr>
            <a:endParaRPr lang="tr-TR" sz="2000" dirty="0"/>
          </a:p>
          <a:p>
            <a:pPr>
              <a:buFont typeface="+mj-lt"/>
              <a:buAutoNum type="arabicPeriod"/>
            </a:pPr>
            <a:r>
              <a:rPr lang="tr-TR" sz="2000" dirty="0"/>
              <a:t> Veri dağılımının karmaşık ve gürültülü olduğu durumlarda (SVM, KNN), matematiksel olarak daha gelişmiş (</a:t>
            </a:r>
            <a:r>
              <a:rPr lang="tr-TR" sz="2000" dirty="0" err="1"/>
              <a:t>robust</a:t>
            </a:r>
            <a:r>
              <a:rPr lang="tr-TR" sz="2000" dirty="0"/>
              <a:t>) çekirdek ve metrikler performansı artırmıştır.</a:t>
            </a:r>
          </a:p>
          <a:p>
            <a:pPr>
              <a:buFont typeface="+mj-lt"/>
              <a:buAutoNum type="arabicPeriod"/>
            </a:pPr>
            <a:endParaRPr lang="tr-TR" sz="2000" dirty="0"/>
          </a:p>
          <a:p>
            <a:pPr>
              <a:buFont typeface="+mj-lt"/>
              <a:buAutoNum type="arabicPeriod"/>
            </a:pPr>
            <a:r>
              <a:rPr lang="tr-TR" sz="2000" dirty="0"/>
              <a:t> Veri sayısının az olduğu durumlarda (RF), model karmaşıklığını artıran meta-öğrenme (Dinamik Seçim) yöntemleri yerine, standart topluluk (</a:t>
            </a:r>
            <a:r>
              <a:rPr lang="tr-TR" sz="2000" dirty="0" err="1"/>
              <a:t>ensemble</a:t>
            </a:r>
            <a:r>
              <a:rPr lang="tr-TR" sz="2000" dirty="0"/>
              <a:t>) yöntemleri daha kararlı sonuçlar vermiştir.</a:t>
            </a:r>
          </a:p>
        </p:txBody>
      </p:sp>
    </p:spTree>
    <p:extLst>
      <p:ext uri="{BB962C8B-B14F-4D97-AF65-F5344CB8AC3E}">
        <p14:creationId xmlns:p14="http://schemas.microsoft.com/office/powerpoint/2010/main" val="2147580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DC7400C1-6F7A-411B-46BB-A1232356112B}"/>
              </a:ext>
            </a:extLst>
          </p:cNvPr>
          <p:cNvSpPr txBox="1"/>
          <p:nvPr/>
        </p:nvSpPr>
        <p:spPr>
          <a:xfrm>
            <a:off x="2451012" y="2598003"/>
            <a:ext cx="7289975" cy="830997"/>
          </a:xfrm>
          <a:prstGeom prst="rect">
            <a:avLst/>
          </a:prstGeom>
          <a:noFill/>
        </p:spPr>
        <p:txBody>
          <a:bodyPr wrap="square" rtlCol="0">
            <a:spAutoFit/>
          </a:bodyPr>
          <a:lstStyle/>
          <a:p>
            <a:r>
              <a:rPr lang="tr-TR" sz="4800" dirty="0"/>
              <a:t>Dinlediğiniz için teşekkürler.</a:t>
            </a:r>
          </a:p>
        </p:txBody>
      </p:sp>
    </p:spTree>
    <p:extLst>
      <p:ext uri="{BB962C8B-B14F-4D97-AF65-F5344CB8AC3E}">
        <p14:creationId xmlns:p14="http://schemas.microsoft.com/office/powerpoint/2010/main" val="2481923711"/>
      </p:ext>
    </p:extLst>
  </p:cSld>
  <p:clrMapOvr>
    <a:masterClrMapping/>
  </p:clrMapOvr>
</p:sld>
</file>

<file path=ppt/theme/theme1.xml><?xml version="1.0" encoding="utf-8"?>
<a:theme xmlns:a="http://schemas.openxmlformats.org/drawingml/2006/main" name="Geçmişe bakış">
  <a:themeElements>
    <a:clrScheme name="Geçmişe bakış">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Geçmişe bakış">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121</TotalTime>
  <Words>946</Words>
  <Application>Microsoft Office PowerPoint</Application>
  <PresentationFormat>Geniş ekran</PresentationFormat>
  <Paragraphs>74</Paragraphs>
  <Slides>20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20</vt:i4>
      </vt:variant>
    </vt:vector>
  </HeadingPairs>
  <TitlesOfParts>
    <vt:vector size="25" baseType="lpstr">
      <vt:lpstr>Arial</vt:lpstr>
      <vt:lpstr>Calibri</vt:lpstr>
      <vt:lpstr>Calibri Light</vt:lpstr>
      <vt:lpstr>Cambria Math</vt:lpstr>
      <vt:lpstr>Geçmişe bakış</vt:lpstr>
      <vt:lpstr>Kalp Hastalığı Teşhisinde Özgün Yapay Zeka Yaklaşımları</vt:lpstr>
      <vt:lpstr>Projenin Amacı</vt:lpstr>
      <vt:lpstr>Veri Seti ve Hazırlık</vt:lpstr>
      <vt:lpstr>PowerPoint Sunusu</vt:lpstr>
      <vt:lpstr>PowerPoint Sunusu</vt:lpstr>
      <vt:lpstr>PowerPoint Sunusu</vt:lpstr>
      <vt:lpstr>PowerPoint Sunusu</vt:lpstr>
      <vt:lpstr>Geliştirilen Özgün Yöntemler</vt:lpstr>
      <vt:lpstr>2. SVM (Bessel-Laplacian Çekirdek):  RBF yerine, hem yerel keskinlikleri hem de global yapıyı yakalayan hibrit çekirdek.</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Yiğit Kalaycıoğlu</dc:creator>
  <cp:lastModifiedBy>Yiğit Kalaycıoğlu</cp:lastModifiedBy>
  <cp:revision>4</cp:revision>
  <dcterms:created xsi:type="dcterms:W3CDTF">2025-12-04T11:22:45Z</dcterms:created>
  <dcterms:modified xsi:type="dcterms:W3CDTF">2025-12-04T13:53:40Z</dcterms:modified>
</cp:coreProperties>
</file>